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165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914400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学生选课管理系统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基于 Spring Boot + Vue 的课程设计</a:t>
            </a:r>
            <a:endParaRPr sz="2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144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90CAF9"/>
                </a:solidFill>
                <a:latin typeface="微软雅黑" panose="020B0503020204020204" charset="-122"/>
                <a:ea typeface="微软雅黑" panose="020B0503020204020204" charset="-122"/>
              </a:rPr>
              <a:t>课程设计答辩  |  前后端分离架构  |  B/S 三层架构</a:t>
            </a:r>
            <a:endParaRPr sz="1600" b="0">
              <a:solidFill>
                <a:srgbClr val="90CA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9680" y="5760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答辩人：邱喆</a:t>
            </a:r>
            <a:r>
              <a:rPr lang="zh-CN" altLang="en-US"/>
              <a:t>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21125" y="5760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指导教师：尹</a:t>
            </a:r>
            <a:r>
              <a:rPr lang="zh-CN" altLang="en-US"/>
              <a:t>菠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Tech Stack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2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828800" cy="9144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34640" y="1755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Vue 2 + Element UI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Axios + Vue Router + Vuex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34640" y="2606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828800" cy="914400"/>
          </a:xfrm>
          <a:prstGeom prst="round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34640" y="2898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Spring Boot 2.7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34640" y="3337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MyBatis-Plus + Spring Security + JWT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34640" y="3749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828800" cy="91440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中间件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34640" y="4041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MySQL 8 + Redis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4480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RabbitMQ 异步消息队列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34640" y="4892040"/>
            <a:ext cx="82296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828800" cy="91440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34640" y="5184648"/>
            <a:ext cx="8229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BCrypt 密码加密</a:t>
            </a:r>
            <a:endParaRPr sz="20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34640" y="5623560"/>
            <a:ext cx="8229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RBAC 权限模型 + 无状态 JWT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部署方式：前后端分离  |  架构模式：B/S 三层架构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系统核心功能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Functions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3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1645920"/>
            <a:ext cx="9418320" cy="10058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教师发布课程   ➜   学生选课   ➜   教师录入成绩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108960"/>
            <a:ext cx="73152" cy="201168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① 发布课程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教师创建课程</a:t>
            </a:r>
            <a:endParaRPr sz="13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设置容量/时间/学分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6344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3108960"/>
            <a:ext cx="73152" cy="20116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② 学生选课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9204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选课闭环核心</a:t>
            </a:r>
            <a:endParaRPr sz="13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9204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6步校验 + 事务保护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200400" cy="20116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108960"/>
            <a:ext cx="73152" cy="201168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3246120"/>
            <a:ext cx="2743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③ 录入成绩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374904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教师评教评分</a:t>
            </a:r>
            <a:endParaRPr sz="13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58200" y="4114800"/>
            <a:ext cx="2743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单个 / 批量录入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389120" y="3931920"/>
            <a:ext cx="548640" cy="457200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955279" y="3931920"/>
            <a:ext cx="548640" cy="457200"/>
          </a:xfrm>
          <a:prstGeom prst="rightArrow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核心功能①  教师发布课程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1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4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入口：AdminController  ➜  POST /api/admin/course/add</a:t>
            </a:r>
            <a:endParaRPr sz="15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教师登录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26517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携带 TEACHER 角色的 JWT Token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15568" y="29260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7360" y="31546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填写课程信息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7360" y="35661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名称 / 学分 / 容量 / 时间地点 / 学期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5568" y="38404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37360" y="40690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Service 层处理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CourseService.addCourse() 写入 MySQL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15568" y="4754880"/>
            <a:ext cx="25400" cy="27432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02920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37360" y="49834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清除缓存</a:t>
            </a:r>
            <a:endParaRPr sz="18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37360" y="539496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@CacheEvict 清除可选课程缓存</a:t>
            </a:r>
            <a:endParaRPr sz="13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0" y="2286000"/>
            <a:ext cx="4846320" cy="256032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2286000"/>
            <a:ext cx="73152" cy="25603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4231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🔐 权限控制</a:t>
            </a:r>
            <a:endParaRPr sz="17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12280" y="2926080"/>
            <a:ext cx="457200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@PreAuthorize 验证教师身份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教师只能编辑/删除自己的课程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数据隔离：teacher_id = 当前登录用户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管理员可管理所有课程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核心功能②  学生选课（系统最核心）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2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5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入口：StudentController ➜ SelectionService.selectCourse()  （@Transactional 事务保护）</a:t>
            </a:r>
            <a:endParaRPr sz="14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64008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1600" y="2057400"/>
            <a:ext cx="18288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0" y="2057400"/>
            <a:ext cx="50292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校验逻辑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2057400"/>
            <a:ext cx="3200400" cy="457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失败提示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2514600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260604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重复选课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0" y="260604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同一学生 + 同一课程只能选一次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您已选过该课程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044952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136392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3136392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数量上限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0" y="3136392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每学生最多选 5 门课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0" y="3136392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选课已达上限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1520" y="3575304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66744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1600" y="3666744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课程状态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00400" y="3666744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课程存在且 status=1（启用）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0" y="3666744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课程不存在或已停用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4105656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97096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1600" y="4197096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时间冲突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0400" y="4197096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schedule 字段不能与已选课重复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0" y="4197096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上课时间冲突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31520" y="4636008"/>
            <a:ext cx="10698480" cy="530352"/>
          </a:xfrm>
          <a:prstGeom prst="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27448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sz="16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71600" y="4727448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课程容量</a:t>
            </a:r>
            <a:endParaRPr sz="12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00400" y="472744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selected &lt; capacity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0" y="4727448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课程已满员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31520" y="5166360"/>
            <a:ext cx="1069848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257800"/>
            <a:ext cx="640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sz="16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71600" y="5257800"/>
            <a:ext cx="1828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写入数据</a:t>
            </a:r>
            <a:endParaRPr sz="12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00400" y="5257800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插入选课记录 + 课程人数 +1</a:t>
            </a:r>
            <a:endParaRPr sz="11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525780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✅ 选课成功</a:t>
            </a:r>
            <a:endParaRPr sz="11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选课成功 ➜  RabbitMQ 异步发送邮件通知（不阻塞主线程响应）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核心功能③  教师录入成绩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Core Function 3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6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入口：TeacherController  ➜  PUT /api/teacher/score（单个） / /score/batch（批量）</a:t>
            </a:r>
            <a:endParaRPr sz="14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🔎 选课查询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67004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按 学期 / 课程 / 学生姓名 多条件筛选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📝 单个录入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53872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PUT /api/teacher/score，修改 selection.score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📋 批量录入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PUT /api/teacher/score/batch，循环调用单个录入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502920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🔒 数据约束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5276088"/>
            <a:ext cx="5029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教师只能查看/录入 自己教授课程 的选课记录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02920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73152" cy="36576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⚙️ 业务规则</a:t>
            </a:r>
            <a:endParaRPr sz="17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4572000" cy="2926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成绩录入后，学生可在「我的选课」查看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已出成绩的课程 不能退课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   （退课时校验 score != null）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教师身份隔离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   只能操作 teacher_id = 自己 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✓ 成绩更新后清除该学生的选课缓存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双端功能总览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Dual-End Overview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7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1645920"/>
            <a:ext cx="3657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学生选课管理系统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9048" y="2468880"/>
            <a:ext cx="25400" cy="36576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4572000" cy="73152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👤 用户端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2834640"/>
            <a:ext cx="4572000" cy="73152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管理员端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371600" y="4206240"/>
            <a:ext cx="2103120" cy="64008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0" y="4206240"/>
            <a:ext cx="2103120" cy="64008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23160" y="3566160"/>
            <a:ext cx="25400" cy="64008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3566160"/>
            <a:ext cx="25400" cy="640080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212080"/>
            <a:ext cx="941832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用户端细分为学生端和教师端，不同角色看到的功能完全不同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管理员端拥有六大管理模块，权限通过 RBAC 模型统一分配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用户端 · 学生端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User End - Student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8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学生端功能  （代码位置：StudentController + SelectionService）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1737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🔍 课程查询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浏览可选课程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（已启用 status=1 且未满员）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73152" cy="1737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✅ 选课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6 步校验 + 事务保护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选课成功异步邮件通知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73152" cy="173736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❌ 退课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仅未出成绩的课程可退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删除记录 + 人数 -1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73152" cy="17373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📊 选课统计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总门数 / 总学分 / 已过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不及格数 / 平均分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额外功能：个人信息修改（邮箱、手机号）   |   公告查看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用户端 · 教师端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User End - Teacher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9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教师端功能  （代码位置：TeacherController + AdminController 权限隔离）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73152" cy="173736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66BB6A"/>
                </a:solidFill>
                <a:latin typeface="微软雅黑" panose="020B0503020204020204" charset="-122"/>
                <a:ea typeface="微软雅黑" panose="020B0503020204020204" charset="-122"/>
              </a:rPr>
              <a:t>📚 课程管理</a:t>
            </a:r>
            <a:endParaRPr sz="1800" b="1">
              <a:solidFill>
                <a:srgbClr val="66BB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发布 / 编辑 / 启用 / 停用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仅操作自己教授的课程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73152" cy="173736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📝 成绩录入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单个录入 + 批量录入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按条件查询选课记录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73152" cy="1737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🔎 选课查询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按 学期 / 课程 / 学生姓名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多条件筛选选课记录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029200" cy="173736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297680"/>
            <a:ext cx="73152" cy="17373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4572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📢 公告发布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发布 / 编辑 / 删除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只能管理自己发布的公告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权限核心：通过 @PreAuthorize + 数据层 teacher_id 隔离，实现教师只管自己的数据</a:t>
            </a:r>
            <a:endParaRPr sz="12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管理员端 · 六大管理模块（上）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Admin End - Modules (1/2)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10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六大管理模块  （代码位置：AdminController + UserService / CourseService）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474720" cy="640080"/>
          </a:xfrm>
          <a:prstGeom prst="rect">
            <a:avLst/>
          </a:prstGeom>
          <a:solidFill>
            <a:srgbClr val="F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👨‍🏫 教师管理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FF7043"/>
                </a:solidFill>
                <a:latin typeface="微软雅黑" panose="020B0503020204020204" charset="-122"/>
                <a:ea typeface="微软雅黑" panose="020B0503020204020204" charset="-122"/>
              </a:rPr>
              <a:t>/api/admin/teacher/*</a:t>
            </a:r>
            <a:endParaRPr sz="1200" b="1">
              <a:solidFill>
                <a:srgbClr val="FF704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教师账号增删改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禁用账号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分配教师角色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59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377440"/>
            <a:ext cx="3474720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🎓 学生管理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/api/admin/student/*</a:t>
            </a:r>
            <a:endParaRPr sz="1200" b="1">
              <a:solidFill>
                <a:srgbClr val="42A5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按姓名/学号查询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禁用账号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重置密码 / 修改信息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474720" cy="640080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📚 课程管理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66BB6A"/>
                </a:solidFill>
                <a:latin typeface="微软雅黑" panose="020B0503020204020204" charset="-122"/>
                <a:ea typeface="微软雅黑" panose="020B0503020204020204" charset="-122"/>
              </a:rPr>
              <a:t>/api/admin/course/*</a:t>
            </a:r>
            <a:endParaRPr sz="1200" b="1">
              <a:solidFill>
                <a:srgbClr val="66BB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课程增删改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停用课程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管理所有教师的课程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管理员端 · 六大管理模块（下）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Admin End - Modules (2/2)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11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59436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🛠️ 六大管理模块  （代码位置：AdminController + RoleService / MenuService）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474720" cy="640080"/>
          </a:xfrm>
          <a:prstGeom prst="rect">
            <a:avLst/>
          </a:prstGeom>
          <a:solidFill>
            <a:srgbClr val="FFA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📢 公告管理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  <a:latin typeface="微软雅黑" panose="020B0503020204020204" charset="-122"/>
                <a:ea typeface="微软雅黑" panose="020B0503020204020204" charset="-122"/>
              </a:rPr>
              <a:t>/api/admin/notice/*</a:t>
            </a:r>
            <a:endParaRPr sz="1200" b="1">
              <a:solidFill>
                <a:srgbClr val="FFA7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发布 / 编辑 / 删除公告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自动落款（教务处/教师名）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学生端可见公告列表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59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2377440"/>
            <a:ext cx="3474720" cy="64008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🔐 角色权限管理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AB47BC"/>
                </a:solidFill>
                <a:latin typeface="微软雅黑" panose="020B0503020204020204" charset="-122"/>
                <a:ea typeface="微软雅黑" panose="020B0503020204020204" charset="-122"/>
              </a:rPr>
              <a:t>/api/admin/role/*</a:t>
            </a:r>
            <a:endParaRPr sz="1200" b="1">
              <a:solidFill>
                <a:srgbClr val="AB47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角色增删改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为角色分配菜单权限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RBAC 模型核心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2377440"/>
            <a:ext cx="3474720" cy="36576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377440"/>
            <a:ext cx="3474720" cy="640080"/>
          </a:xfrm>
          <a:prstGeom prst="rect">
            <a:avLst/>
          </a:prstGeom>
          <a:solidFill>
            <a:srgbClr val="26C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📋 菜单管理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>
                <a:solidFill>
                  <a:srgbClr val="26C6DA"/>
                </a:solidFill>
                <a:latin typeface="微软雅黑" panose="020B0503020204020204" charset="-122"/>
                <a:ea typeface="微软雅黑" panose="020B0503020204020204" charset="-122"/>
              </a:rPr>
              <a:t>/api/admin/menu/*</a:t>
            </a:r>
            <a:endParaRPr sz="1200" b="1">
              <a:solidFill>
                <a:srgbClr val="26C6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926080" cy="21945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菜单树增删改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启用 / 禁用菜单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• 权限编码管理</a:t>
            </a:r>
            <a:endParaRPr sz="13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RBAC 权限模型：用户 → 角色 → 菜单（权限），通过 role_menu 表实现细粒度控制</a:t>
            </a:r>
            <a:endParaRPr sz="13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关键技术实现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Key Technical Implementations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12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474720" cy="914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1A73E8"/>
                </a:solidFill>
                <a:latin typeface="微软雅黑" panose="020B0503020204020204" charset="-122"/>
                <a:ea typeface="微软雅黑" panose="020B0503020204020204" charset="-122"/>
              </a:rPr>
              <a:t>JWT 认证</a:t>
            </a:r>
            <a:endParaRPr sz="1800" b="1">
              <a:solidFill>
                <a:srgbClr val="1A73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无状态 Token，过滤器解析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JwtAuthenticationFilter / JwtUtil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59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737360"/>
            <a:ext cx="3474720" cy="914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34A853"/>
                </a:solidFill>
                <a:latin typeface="微软雅黑" panose="020B0503020204020204" charset="-122"/>
                <a:ea typeface="微软雅黑" panose="020B0503020204020204" charset="-122"/>
              </a:rPr>
              <a:t>Spring Security</a:t>
            </a:r>
            <a:endParaRPr sz="1800" b="1">
              <a:solidFill>
                <a:srgbClr val="34A85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79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RBAC + 方法级权限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79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SecurityConfig + @PreAuthorize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73736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659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6F00"/>
                </a:solidFill>
                <a:latin typeface="微软雅黑" panose="020B0503020204020204" charset="-122"/>
                <a:ea typeface="微软雅黑" panose="020B0503020204020204" charset="-122"/>
              </a:rPr>
              <a:t>Redis 缓存</a:t>
            </a:r>
            <a:endParaRPr sz="1800" b="1">
              <a:solidFill>
                <a:srgbClr val="FF6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0" y="251460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@Cacheable / @CacheEvict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0175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CourseService / RedisConfig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474720" cy="9144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RabbitMQ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异步邮件通知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MailProducer / MailConsumer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80559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3931920"/>
            <a:ext cx="3474720" cy="9144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79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AB47BC"/>
                </a:solidFill>
                <a:latin typeface="微软雅黑" panose="020B0503020204020204" charset="-122"/>
                <a:ea typeface="微软雅黑" panose="020B0503020204020204" charset="-122"/>
              </a:rPr>
              <a:t>事务管理</a:t>
            </a:r>
            <a:endParaRPr sz="1800" b="1">
              <a:solidFill>
                <a:srgbClr val="AB47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79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@Transactional 保证原子性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79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SelectionService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29600" y="393192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931920"/>
            <a:ext cx="3474720" cy="914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微软雅黑" panose="020B0503020204020204" charset="-122"/>
                <a:ea typeface="微软雅黑" panose="020B0503020204020204" charset="-122"/>
              </a:rPr>
              <a:t>BCrypt 加密</a:t>
            </a:r>
            <a:endParaRPr sz="1800" b="1">
              <a:solidFill>
                <a:srgbClr val="0096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03920" y="4709160"/>
            <a:ext cx="29260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密码不可逆加密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0" y="521208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📁 SecurityConfig.passwordEncoder()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选课流程时序图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Course Selection Sequence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13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828800" cy="14630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Vue.js 发送选课请求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28600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011680"/>
            <a:ext cx="1828800" cy="1463040"/>
          </a:xfrm>
          <a:prstGeom prst="round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Controller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StudentController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权限校验+参数接收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29768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1828800" cy="146304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Service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SelectionService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6步校验+事务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30936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80"/>
            <a:ext cx="1828800" cy="1463040"/>
          </a:xfrm>
          <a:prstGeom prst="round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Mapper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MyBatis-Plus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 MySQL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32104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1828800" cy="1463040"/>
          </a:xfrm>
          <a:prstGeom prst="round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Redis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清除相关缓存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10332720" y="2606040"/>
            <a:ext cx="548640" cy="274320"/>
          </a:xfrm>
          <a:prstGeom prst="rightArrow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0" y="2011680"/>
            <a:ext cx="1828800" cy="146304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消息队列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RabbitMQ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异步邮件通知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698480" cy="237744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📋 完整调用链路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①  前端 POST /api/student/select?courseId=123  （携带 JWT Token）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②  JwtAuthenticationFilter 解析 Token  ➜  SecurityContext 设置认证信息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③  StudentController @PreAuthorize 校验 STUDENT 角色  ➜  @AuthenticationPrincipal 获取学生 ID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④  SelectionService.selectCourse()  @Transactional 事务内执行 6 步校验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</a:p>
          <a:p>
            <a:pPr algn="l"/>
            <a:r>
              <a:rPr sz="1200" b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⑤  写入 selection 表 + 更新 course.selected  ➜  清除 mySelections 缓存  ➜  RabbitMQ 发邮件</a:t>
            </a:r>
            <a:endParaRPr sz="1200" b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65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196596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完整选课闭环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发布课程 ➜ 学生选课 ➜ 录入成绩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三端权限隔离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278892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学生端 / 教师端 / 管理员端，数据互不干扰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5920" y="352044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六大管理模块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教师 / 学生 / 课程 / 公告 / 角色 / 菜单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关键技术落地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434340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JWT + Redis + RabbitMQ + 事务 + BCrypt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45920" y="507492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✅ 三层架构清晰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0" y="512064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BBDEFB"/>
                </a:solidFill>
                <a:latin typeface="微软雅黑" panose="020B0503020204020204" charset="-122"/>
                <a:ea typeface="微软雅黑" panose="020B0503020204020204" charset="-122"/>
              </a:rPr>
              <a:t>Controller ➜ Service ➜ Mapper，职责分明</a:t>
            </a:r>
            <a:endParaRPr sz="1400" b="0">
              <a:solidFill>
                <a:srgbClr val="BBDEF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630936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感谢各位老师的聆听！  欢迎提问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技术亮点与未来展望</a:t>
            </a:r>
            <a:endParaRPr sz="3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Highlights &amp; Future</a:t>
            </a:r>
            <a:endParaRPr sz="14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" cy="4572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15 / 15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303520" cy="59436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3035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🚀 技术亮点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05840" y="2450592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359152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无状态 JWT 认证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69748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前后端分离，支持分布式扩展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005840" y="3200400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0896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RabbitMQ 异步处理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3447288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邮件通知不阻塞主线程，提升响应速度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05840" y="3950208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858768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Redis 缓存策略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4197096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热点数据缓存 + 写入自动清除，减少数据库压力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05840" y="4700016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608576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RBAC 细粒度权限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4946904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角色-菜单-权限三级模型，方法级 @PreAuthorize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05840" y="5449824"/>
            <a:ext cx="228600" cy="2286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358384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事务 + 6步校验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696712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选课核心 @Transactional 保证数据一致性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303520" cy="4754880"/>
          </a:xfrm>
          <a:prstGeom prst="roundRect">
            <a:avLst/>
          </a:prstGeom>
          <a:solidFill>
            <a:srgbClr val="F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5303520" cy="594360"/>
          </a:xfrm>
          <a:prstGeom prst="rect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600200"/>
            <a:ext cx="530352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🔭 未来展望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583680" y="2450592"/>
            <a:ext cx="228600" cy="228600"/>
          </a:xfrm>
          <a:prstGeom prst="ellipse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359152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课程评价系统</a:t>
            </a:r>
            <a:endParaRPr sz="14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95160" y="269748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学生可对已修课程进行评分和评论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0" y="3200400"/>
            <a:ext cx="228600" cy="228600"/>
          </a:xfrm>
          <a:prstGeom prst="ellipse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108960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选课推荐算法</a:t>
            </a:r>
            <a:endParaRPr sz="14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95160" y="3447288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基于历史数据智能推荐适合的课程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583680" y="3950208"/>
            <a:ext cx="228600" cy="228600"/>
          </a:xfrm>
          <a:prstGeom prst="ellipse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858768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数据可视化大屏</a:t>
            </a:r>
            <a:endParaRPr sz="14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95160" y="4197096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选课统计、成绩分布等图表展示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583680" y="4700016"/>
            <a:ext cx="228600" cy="228600"/>
          </a:xfrm>
          <a:prstGeom prst="ellipse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608576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移动端适配</a:t>
            </a:r>
            <a:endParaRPr sz="14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95160" y="4946904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开发微信小程序 / 移动端 APP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583680" y="5449824"/>
            <a:ext cx="228600" cy="228600"/>
          </a:xfrm>
          <a:prstGeom prst="ellipse">
            <a:avLst/>
          </a:prstGeom>
          <a:solidFill>
            <a:srgbClr val="FF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5358384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微服务架构改造</a:t>
            </a:r>
            <a:endParaRPr sz="1400" b="1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95160" y="5696712"/>
            <a:ext cx="43891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>
                <a:solidFill>
                  <a:srgbClr val="606468"/>
                </a:solidFill>
                <a:latin typeface="微软雅黑" panose="020B0503020204020204" charset="-122"/>
                <a:ea typeface="微软雅黑" panose="020B0503020204020204" charset="-122"/>
              </a:rPr>
              <a:t>拆分为独立服务，提高可扩展性</a:t>
            </a:r>
            <a:endParaRPr sz="1100" b="0">
              <a:solidFill>
                <a:srgbClr val="606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4062</Words>
  <Application>WPS 演示</Application>
  <PresentationFormat>On-screen Show (4:3)</PresentationFormat>
  <Paragraphs>521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</cp:lastModifiedBy>
  <cp:revision>2</cp:revision>
  <dcterms:created xsi:type="dcterms:W3CDTF">2013-01-27T09:14:00Z</dcterms:created>
  <dcterms:modified xsi:type="dcterms:W3CDTF">2026-07-02T05:08:52Z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AD2835FA1AF6459D89392AA4B74EB9A4_12</vt:lpwstr>
  </property>
</Properties>
</file>