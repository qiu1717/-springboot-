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00"/>
              </a:lnSpc>
              <a:defRPr sz="1200" b="0">
                <a:solidFill>
                  <a:srgbClr val="999999"/>
                </a:solidFill>
                <a:latin typeface="Arial" panose="020B0604020202020204"/>
              </a:defRPr>
            </a:pPr>
            <a:r>
              <a:t>COURSE SELECTION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45720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ts val="1800"/>
              </a:lnSpc>
              <a:defRPr sz="1200" b="0">
                <a:solidFill>
                  <a:srgbClr val="999999"/>
                </a:solidFill>
                <a:latin typeface="Arial" panose="020B0604020202020204"/>
              </a:defRPr>
            </a:pPr>
            <a:r>
              <a:t>01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7200"/>
              </a:lnSpc>
              <a:defRPr sz="6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学生选课</a:t>
            </a:r>
            <a:br/>
            <a:r>
              <a:t>管理系统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4754880"/>
            <a:ext cx="4846320" cy="1905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2700"/>
              </a:lnSpc>
              <a:defRPr sz="1800" b="0">
                <a:solidFill>
                  <a:srgbClr val="BFBFBF"/>
                </a:solidFill>
                <a:latin typeface="微软雅黑" panose="020B0503020204020204" charset="-122"/>
              </a:defRPr>
            </a:pPr>
            <a:r>
              <a:t>Spring Boot + Vue  ·  三种角色  ·  移动端响应式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4572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00"/>
              </a:lnSpc>
              <a:defRPr sz="12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答辩人：</a:t>
            </a:r>
            <a:r>
              <a:rPr lang="zh-CN"/>
              <a:t>邱喆</a:t>
            </a:r>
            <a:r>
              <a:rPr lang="zh-CN"/>
              <a:t>喆</a:t>
            </a:r>
            <a:endParaRPr lang="zh-CN"/>
          </a:p>
        </p:txBody>
      </p:sp>
      <p:sp>
        <p:nvSpPr>
          <p:cNvPr id="9" name="Rectangle 8"/>
          <p:cNvSpPr/>
          <p:nvPr/>
        </p:nvSpPr>
        <p:spPr>
          <a:xfrm>
            <a:off x="731520" y="5760720"/>
            <a:ext cx="10698480" cy="1905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00"/>
              </a:lnSpc>
              <a:defRPr sz="1200" b="0">
                <a:solidFill>
                  <a:srgbClr val="A3A3A3"/>
                </a:solidFill>
                <a:latin typeface="微软雅黑" panose="020B0503020204020204" charset="-122"/>
              </a:defRPr>
            </a:pPr>
            <a:r>
              <a:t>项目背景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36576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ts val="1800"/>
              </a:lnSpc>
              <a:defRPr sz="1200" b="0">
                <a:solidFill>
                  <a:srgbClr val="A3A3A3"/>
                </a:solidFill>
                <a:latin typeface="Arial" panose="020B0604020202020204"/>
              </a:defRPr>
            </a:pPr>
            <a:r>
              <a:t>02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6300"/>
              </a:lnSpc>
              <a:defRPr sz="4200" b="0">
                <a:solidFill>
                  <a:srgbClr val="0A0A0A"/>
                </a:solidFill>
                <a:latin typeface="微软雅黑" panose="020B0503020204020204" charset="-122"/>
              </a:defRPr>
            </a:pPr>
            <a:r>
              <a:t>传统选课模式的困境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3200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950"/>
              </a:lnSpc>
              <a:defRPr sz="1300" b="1">
                <a:solidFill>
                  <a:srgbClr val="1A1A1A"/>
                </a:solidFill>
                <a:latin typeface="Arial" panose="020B0604020202020204"/>
              </a:defRPr>
            </a:pPr>
            <a:r>
              <a:t>效率低下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320040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720"/>
              </a:lnSpc>
              <a:defRPr sz="16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纸质表格手工填写</a:t>
            </a:r>
          </a:p>
          <a:p>
            <a:pPr algn="l">
              <a:lnSpc>
                <a:spcPts val="2720"/>
              </a:lnSpc>
              <a:defRPr sz="16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教务人员逐一统计录入</a:t>
            </a:r>
          </a:p>
          <a:p>
            <a:pPr algn="l">
              <a:lnSpc>
                <a:spcPts val="2720"/>
              </a:lnSpc>
              <a:defRPr sz="16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容易出错且耗时巨大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743200"/>
            <a:ext cx="3200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950"/>
              </a:lnSpc>
              <a:defRPr sz="1300" b="1">
                <a:solidFill>
                  <a:srgbClr val="1A1A1A"/>
                </a:solidFill>
                <a:latin typeface="Arial" panose="020B0604020202020204"/>
              </a:defRPr>
            </a:pPr>
            <a:r>
              <a:t>信息滞后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3383280"/>
            <a:ext cx="320040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720"/>
              </a:lnSpc>
              <a:defRPr sz="16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学生无法实时查看</a:t>
            </a:r>
          </a:p>
          <a:p>
            <a:pPr algn="l">
              <a:lnSpc>
                <a:spcPts val="2720"/>
              </a:lnSpc>
              <a:defRPr sz="16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课程容量与选课情况</a:t>
            </a:r>
          </a:p>
          <a:p>
            <a:pPr algn="l">
              <a:lnSpc>
                <a:spcPts val="2720"/>
              </a:lnSpc>
              <a:defRPr sz="16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公告通知传达不及时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743200"/>
            <a:ext cx="3200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950"/>
              </a:lnSpc>
              <a:defRPr sz="1300" b="1">
                <a:solidFill>
                  <a:srgbClr val="1A1A1A"/>
                </a:solidFill>
                <a:latin typeface="Arial" panose="020B0604020202020204"/>
              </a:defRPr>
            </a:pPr>
            <a:r>
              <a:t>数据追溯难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383280"/>
            <a:ext cx="320040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720"/>
              </a:lnSpc>
              <a:defRPr sz="16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教师手动登记成绩</a:t>
            </a:r>
          </a:p>
          <a:p>
            <a:pPr algn="l">
              <a:lnSpc>
                <a:spcPts val="2720"/>
              </a:lnSpc>
              <a:defRPr sz="16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多学期数据分散存储</a:t>
            </a:r>
          </a:p>
          <a:p>
            <a:pPr algn="l">
              <a:lnSpc>
                <a:spcPts val="2720"/>
              </a:lnSpc>
              <a:defRPr sz="16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统计汇总工作量大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217920"/>
            <a:ext cx="10698480" cy="19050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00"/>
              </a:lnSpc>
              <a:defRPr sz="12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系统角色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36576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ts val="1800"/>
              </a:lnSpc>
              <a:defRPr sz="1200" b="0">
                <a:solidFill>
                  <a:srgbClr val="999999"/>
                </a:solidFill>
                <a:latin typeface="Arial" panose="020B0604020202020204"/>
              </a:defRPr>
            </a:pPr>
            <a:r>
              <a:t>03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6300"/>
              </a:lnSpc>
              <a:defRPr sz="4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三种用户 · 各司其职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3200400" cy="3200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26517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3300"/>
              </a:lnSpc>
              <a:defRPr sz="2200" b="1">
                <a:solidFill>
                  <a:srgbClr val="BFBFBF"/>
                </a:solidFill>
                <a:latin typeface="Arial" panose="020B0604020202020204"/>
              </a:defRPr>
            </a:pPr>
            <a:r>
              <a:t>ADMIN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566160"/>
            <a:ext cx="2651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3000"/>
              </a:lnSpc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管理员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06240"/>
            <a:ext cx="265176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2400"/>
              </a:lnSpc>
              <a:defRPr sz="1500" b="0">
                <a:solidFill>
                  <a:srgbClr val="BFBFBF"/>
                </a:solidFill>
                <a:latin typeface="微软雅黑" panose="020B0503020204020204" charset="-122"/>
              </a:defRPr>
            </a:pPr>
            <a:r>
              <a:t>公告管理 / 教师管理</a:t>
            </a:r>
          </a:p>
          <a:p>
            <a:pPr algn="ctr">
              <a:lnSpc>
                <a:spcPts val="2400"/>
              </a:lnSpc>
              <a:defRPr sz="1500" b="0">
                <a:solidFill>
                  <a:srgbClr val="BFBFBF"/>
                </a:solidFill>
                <a:latin typeface="微软雅黑" panose="020B0503020204020204" charset="-122"/>
              </a:defRPr>
            </a:pPr>
            <a:r>
              <a:t>学生管理 / 课程管理</a:t>
            </a:r>
          </a:p>
          <a:p>
            <a:pPr algn="ctr">
              <a:lnSpc>
                <a:spcPts val="2400"/>
              </a:lnSpc>
              <a:defRPr sz="1500" b="0">
                <a:solidFill>
                  <a:srgbClr val="BFBFBF"/>
                </a:solidFill>
                <a:latin typeface="微软雅黑" panose="020B0503020204020204" charset="-122"/>
              </a:defRPr>
            </a:pPr>
            <a:r>
              <a:t>菜单管理 / 角色权限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743200"/>
            <a:ext cx="3200400" cy="3200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926080"/>
            <a:ext cx="26517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3300"/>
              </a:lnSpc>
              <a:defRPr sz="2200" b="1">
                <a:solidFill>
                  <a:srgbClr val="BFBFBF"/>
                </a:solidFill>
                <a:latin typeface="Arial" panose="020B0604020202020204"/>
              </a:defRPr>
            </a:pPr>
            <a:r>
              <a:t>TEACHER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566160"/>
            <a:ext cx="2651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3000"/>
              </a:lnSpc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教师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206240"/>
            <a:ext cx="265176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2400"/>
              </a:lnSpc>
              <a:defRPr sz="1500" b="0">
                <a:solidFill>
                  <a:srgbClr val="BFBFBF"/>
                </a:solidFill>
                <a:latin typeface="微软雅黑" panose="020B0503020204020204" charset="-122"/>
              </a:defRPr>
            </a:pPr>
            <a:r>
              <a:t>查看教授课程</a:t>
            </a:r>
          </a:p>
          <a:p>
            <a:pPr algn="ctr">
              <a:lnSpc>
                <a:spcPts val="2400"/>
              </a:lnSpc>
              <a:defRPr sz="1500" b="0">
                <a:solidFill>
                  <a:srgbClr val="BFBFBF"/>
                </a:solidFill>
                <a:latin typeface="微软雅黑" panose="020B0503020204020204" charset="-122"/>
              </a:defRPr>
            </a:pPr>
            <a:r>
              <a:t>筛选学生选课记录</a:t>
            </a:r>
          </a:p>
          <a:p>
            <a:pPr algn="ctr">
              <a:lnSpc>
                <a:spcPts val="2400"/>
              </a:lnSpc>
              <a:defRPr sz="1500" b="0">
                <a:solidFill>
                  <a:srgbClr val="BFBFBF"/>
                </a:solidFill>
                <a:latin typeface="微软雅黑" panose="020B0503020204020204" charset="-122"/>
              </a:defRPr>
            </a:pPr>
            <a:r>
              <a:t>录入与批量修改成绩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2743200"/>
            <a:ext cx="3200400" cy="3200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926080"/>
            <a:ext cx="26517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3300"/>
              </a:lnSpc>
              <a:defRPr sz="2200" b="1">
                <a:solidFill>
                  <a:srgbClr val="BFBFBF"/>
                </a:solidFill>
                <a:latin typeface="Arial" panose="020B0604020202020204"/>
              </a:defRPr>
            </a:pPr>
            <a:r>
              <a:t>STUDENT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566160"/>
            <a:ext cx="2651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3000"/>
              </a:lnSpc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学生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206240"/>
            <a:ext cx="265176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2400"/>
              </a:lnSpc>
              <a:defRPr sz="1500" b="0">
                <a:solidFill>
                  <a:srgbClr val="BFBFBF"/>
                </a:solidFill>
                <a:latin typeface="微软雅黑" panose="020B0503020204020204" charset="-122"/>
              </a:defRPr>
            </a:pPr>
            <a:r>
              <a:t>在线选课 / 退课</a:t>
            </a:r>
          </a:p>
          <a:p>
            <a:pPr algn="ctr">
              <a:lnSpc>
                <a:spcPts val="2400"/>
              </a:lnSpc>
              <a:defRPr sz="1500" b="0">
                <a:solidFill>
                  <a:srgbClr val="BFBFBF"/>
                </a:solidFill>
                <a:latin typeface="微软雅黑" panose="020B0503020204020204" charset="-122"/>
              </a:defRPr>
            </a:pPr>
            <a:r>
              <a:t>成绩查询 / 学分统计</a:t>
            </a:r>
          </a:p>
          <a:p>
            <a:pPr algn="ctr">
              <a:lnSpc>
                <a:spcPts val="2400"/>
              </a:lnSpc>
              <a:defRPr sz="1500" b="0">
                <a:solidFill>
                  <a:srgbClr val="BFBFBF"/>
                </a:solidFill>
                <a:latin typeface="微软雅黑" panose="020B0503020204020204" charset="-122"/>
              </a:defRPr>
            </a:pPr>
            <a:r>
              <a:t>公告查看 / 资料下载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217920"/>
            <a:ext cx="10698480" cy="1905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00"/>
              </a:lnSpc>
              <a:defRPr sz="1200" b="0">
                <a:solidFill>
                  <a:srgbClr val="A3A3A3"/>
                </a:solidFill>
                <a:latin typeface="微软雅黑" panose="020B0503020204020204" charset="-122"/>
              </a:defRPr>
            </a:pPr>
            <a:r>
              <a:t>技术架构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36576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ts val="1800"/>
              </a:lnSpc>
              <a:defRPr sz="1200" b="0">
                <a:solidFill>
                  <a:srgbClr val="A3A3A3"/>
                </a:solidFill>
                <a:latin typeface="Arial" panose="020B0604020202020204"/>
              </a:defRPr>
            </a:pPr>
            <a:r>
              <a:t>04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6300"/>
              </a:lnSpc>
              <a:defRPr sz="4200" b="0">
                <a:solidFill>
                  <a:srgbClr val="0A0A0A"/>
                </a:solidFill>
                <a:latin typeface="微软雅黑" panose="020B0503020204020204" charset="-122"/>
              </a:defRPr>
            </a:pPr>
            <a:r>
              <a:t>前后端分离 · 安全可靠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100"/>
              </a:lnSpc>
              <a:defRPr sz="1400" b="1">
                <a:solidFill>
                  <a:srgbClr val="1A1A1A"/>
                </a:solidFill>
                <a:latin typeface="Arial" panose="020B0604020202020204"/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17520"/>
            <a:ext cx="489204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400"/>
              </a:lnSpc>
              <a:defRPr sz="15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Vue 2.x + Element UI</a:t>
            </a:r>
          </a:p>
          <a:p>
            <a:pPr algn="l">
              <a:lnSpc>
                <a:spcPts val="2400"/>
              </a:lnSpc>
              <a:defRPr sz="15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Axios 请求拦截 · Vue Router</a:t>
            </a:r>
          </a:p>
          <a:p>
            <a:pPr algn="l">
              <a:lnSpc>
                <a:spcPts val="2400"/>
              </a:lnSpc>
              <a:defRPr sz="15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sessionStorage 多 Tab 隔离</a:t>
            </a:r>
          </a:p>
          <a:p>
            <a:pPr algn="l">
              <a:lnSpc>
                <a:spcPts val="2400"/>
              </a:lnSpc>
              <a:defRPr sz="15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CSS 媒体查询响应式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100"/>
              </a:lnSpc>
              <a:defRPr sz="1400" b="1">
                <a:solidFill>
                  <a:srgbClr val="1A1A1A"/>
                </a:solidFill>
                <a:latin typeface="Arial" panose="020B0604020202020204"/>
              </a:defRPr>
            </a:pPr>
            <a: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663440"/>
            <a:ext cx="489204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400"/>
              </a:lnSpc>
              <a:defRPr sz="15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Spring Boot 2.7.x</a:t>
            </a:r>
          </a:p>
          <a:p>
            <a:pPr algn="l">
              <a:lnSpc>
                <a:spcPts val="2400"/>
              </a:lnSpc>
              <a:defRPr sz="15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MyBatis-Plus 3.5.x</a:t>
            </a:r>
          </a:p>
          <a:p>
            <a:pPr algn="l">
              <a:lnSpc>
                <a:spcPts val="2400"/>
              </a:lnSpc>
              <a:defRPr sz="15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Spring Security + JWT</a:t>
            </a:r>
          </a:p>
          <a:p>
            <a:pPr algn="l">
              <a:lnSpc>
                <a:spcPts val="2400"/>
              </a:lnSpc>
              <a:defRPr sz="15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BCrypt 密码加密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100"/>
              </a:lnSpc>
              <a:defRPr sz="1400" b="1">
                <a:solidFill>
                  <a:srgbClr val="1A1A1A"/>
                </a:solidFill>
                <a:latin typeface="Arial" panose="020B0604020202020204"/>
              </a:defRPr>
            </a:pPr>
            <a:r>
              <a:t>Data &amp; Infra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3017520"/>
            <a:ext cx="489204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400"/>
              </a:lnSpc>
              <a:defRPr sz="15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MySQL 8.0 · 7 张数据表</a:t>
            </a:r>
          </a:p>
          <a:p>
            <a:pPr algn="l">
              <a:lnSpc>
                <a:spcPts val="2400"/>
              </a:lnSpc>
              <a:defRPr sz="15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Spring Cache 缓存加速</a:t>
            </a:r>
          </a:p>
          <a:p>
            <a:pPr algn="l">
              <a:lnSpc>
                <a:spcPts val="2400"/>
              </a:lnSpc>
              <a:defRPr sz="15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Scheduled 定时满员预警</a:t>
            </a:r>
          </a:p>
          <a:p>
            <a:pPr algn="l">
              <a:lnSpc>
                <a:spcPts val="2400"/>
              </a:lnSpc>
              <a:defRPr sz="15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JavaMail 邮件通知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20624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100"/>
              </a:lnSpc>
              <a:defRPr sz="1400" b="1">
                <a:solidFill>
                  <a:srgbClr val="1A1A1A"/>
                </a:solidFill>
                <a:latin typeface="Arial" panose="020B0604020202020204"/>
              </a:defRPr>
            </a:pPr>
            <a:r>
              <a:t>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4663440"/>
            <a:ext cx="489204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400"/>
              </a:lnSpc>
              <a:defRPr sz="15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JWT 无状态 Token</a:t>
            </a:r>
          </a:p>
          <a:p>
            <a:pPr algn="l">
              <a:lnSpc>
                <a:spcPts val="2400"/>
              </a:lnSpc>
              <a:defRPr sz="15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RBAC 动态权限控制</a:t>
            </a:r>
          </a:p>
          <a:p>
            <a:pPr algn="l">
              <a:lnSpc>
                <a:spcPts val="2400"/>
              </a:lnSpc>
              <a:defRPr sz="15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role_menu 数据库驱动</a:t>
            </a:r>
          </a:p>
          <a:p>
            <a:pPr algn="l">
              <a:lnSpc>
                <a:spcPts val="2400"/>
              </a:lnSpc>
              <a:defRPr sz="15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教师只能操作自己的数据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2560320"/>
            <a:ext cx="19050" cy="3474720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6217920"/>
            <a:ext cx="10698480" cy="19050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00"/>
              </a:lnSpc>
              <a:defRPr sz="12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系统规模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36576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ts val="1800"/>
              </a:lnSpc>
              <a:defRPr sz="1200" b="0">
                <a:solidFill>
                  <a:srgbClr val="999999"/>
                </a:solidFill>
                <a:latin typeface="Arial" panose="020B0604020202020204"/>
              </a:defRPr>
            </a:pPr>
            <a:r>
              <a:t>05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6300"/>
              </a:lnSpc>
              <a:defRPr sz="4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功能完整度与规模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24688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0800"/>
              </a:lnSpc>
              <a:defRPr sz="7200" b="0">
                <a:solidFill>
                  <a:srgbClr val="FFFFFF"/>
                </a:solidFill>
                <a:latin typeface="Arial" panose="020B0604020202020204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950"/>
              </a:lnSpc>
              <a:defRPr sz="1300" b="1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数据表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63440"/>
            <a:ext cx="24688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2100"/>
              </a:lnSpc>
              <a:defRPr sz="1400" b="0">
                <a:solidFill>
                  <a:srgbClr val="BFBFBF"/>
                </a:solidFill>
                <a:latin typeface="微软雅黑" panose="020B0503020204020204" charset="-122"/>
              </a:defRPr>
            </a:pPr>
            <a:r>
              <a:t>用户/课程/选课</a:t>
            </a:r>
          </a:p>
          <a:p>
            <a:pPr algn="ctr">
              <a:lnSpc>
                <a:spcPts val="2100"/>
              </a:lnSpc>
              <a:defRPr sz="1400" b="0">
                <a:solidFill>
                  <a:srgbClr val="BFBFBF"/>
                </a:solidFill>
                <a:latin typeface="微软雅黑" panose="020B0503020204020204" charset="-122"/>
              </a:defRPr>
            </a:pPr>
            <a:r>
              <a:t>公告/菜单/角色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743200"/>
            <a:ext cx="24688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0800"/>
              </a:lnSpc>
              <a:defRPr sz="7200" b="0">
                <a:solidFill>
                  <a:srgbClr val="FFFFFF"/>
                </a:solidFill>
                <a:latin typeface="Arial" panose="020B0604020202020204"/>
              </a:defRPr>
            </a:pPr>
            <a:r>
              <a:t>30+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4114800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950"/>
              </a:lnSpc>
              <a:defRPr sz="1300" b="1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API 接口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4663440"/>
            <a:ext cx="24688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2100"/>
              </a:lnSpc>
              <a:defRPr sz="1400" b="0">
                <a:solidFill>
                  <a:srgbClr val="BFBFBF"/>
                </a:solidFill>
                <a:latin typeface="微软雅黑" panose="020B0503020204020204" charset="-122"/>
              </a:defRPr>
            </a:pPr>
            <a:r>
              <a:t>登录/选课/成绩</a:t>
            </a:r>
          </a:p>
          <a:p>
            <a:pPr algn="ctr">
              <a:lnSpc>
                <a:spcPts val="2100"/>
              </a:lnSpc>
              <a:defRPr sz="1400" b="0">
                <a:solidFill>
                  <a:srgbClr val="BFBFBF"/>
                </a:solidFill>
                <a:latin typeface="微软雅黑" panose="020B0503020204020204" charset="-122"/>
              </a:defRPr>
            </a:pPr>
            <a:r>
              <a:t>公告/课程/文件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743200"/>
            <a:ext cx="24688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0800"/>
              </a:lnSpc>
              <a:defRPr sz="7200" b="0">
                <a:solidFill>
                  <a:srgbClr val="FFFFFF"/>
                </a:solidFill>
                <a:latin typeface="Arial" panose="020B0604020202020204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4114800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950"/>
              </a:lnSpc>
              <a:defRPr sz="1300" b="1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角色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4663440"/>
            <a:ext cx="24688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2100"/>
              </a:lnSpc>
              <a:defRPr sz="1400" b="0">
                <a:solidFill>
                  <a:srgbClr val="BFBFBF"/>
                </a:solidFill>
                <a:latin typeface="微软雅黑" panose="020B0503020204020204" charset="-122"/>
              </a:defRPr>
            </a:pPr>
            <a:r>
              <a:t>管理员/教师/学生</a:t>
            </a:r>
          </a:p>
          <a:p>
            <a:pPr algn="ctr">
              <a:lnSpc>
                <a:spcPts val="2100"/>
              </a:lnSpc>
              <a:defRPr sz="1400" b="0">
                <a:solidFill>
                  <a:srgbClr val="BFBFBF"/>
                </a:solidFill>
                <a:latin typeface="微软雅黑" panose="020B0503020204020204" charset="-122"/>
              </a:defRPr>
            </a:pPr>
            <a:r>
              <a:t>JWT 安全隔离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2743200"/>
            <a:ext cx="24688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0800"/>
              </a:lnSpc>
              <a:defRPr sz="7200" b="0">
                <a:solidFill>
                  <a:srgbClr val="FFFFFF"/>
                </a:solidFill>
                <a:latin typeface="Arial" panose="020B0604020202020204"/>
              </a:defRPr>
            </a:pPr>
            <a: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4114800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950"/>
              </a:lnSpc>
              <a:defRPr sz="1300" b="1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测试用例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4663440"/>
            <a:ext cx="24688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2100"/>
              </a:lnSpc>
              <a:defRPr sz="1400" b="0">
                <a:solidFill>
                  <a:srgbClr val="BFBFBF"/>
                </a:solidFill>
                <a:latin typeface="微软雅黑" panose="020B0503020204020204" charset="-122"/>
              </a:defRPr>
            </a:pPr>
            <a:r>
              <a:t>黑盒全覆盖</a:t>
            </a:r>
          </a:p>
          <a:p>
            <a:pPr algn="ctr">
              <a:lnSpc>
                <a:spcPts val="2100"/>
              </a:lnSpc>
              <a:defRPr sz="1400" b="0">
                <a:solidFill>
                  <a:srgbClr val="BFBFBF"/>
                </a:solidFill>
                <a:latin typeface="微软雅黑" panose="020B0503020204020204" charset="-122"/>
              </a:defRPr>
            </a:pPr>
            <a:r>
              <a:t>全部通过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217920"/>
            <a:ext cx="10698480" cy="1905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00"/>
              </a:lnSpc>
              <a:defRPr sz="1200" b="0">
                <a:solidFill>
                  <a:srgbClr val="A3A3A3"/>
                </a:solidFill>
                <a:latin typeface="微软雅黑" panose="020B0503020204020204" charset="-122"/>
              </a:defRPr>
            </a:pPr>
            <a:r>
              <a:t>管理员端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36576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ts val="1800"/>
              </a:lnSpc>
              <a:defRPr sz="1200" b="0">
                <a:solidFill>
                  <a:srgbClr val="A3A3A3"/>
                </a:solidFill>
                <a:latin typeface="Arial" panose="020B0604020202020204"/>
              </a:defRPr>
            </a:pPr>
            <a:r>
              <a:t>06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6300"/>
              </a:lnSpc>
              <a:defRPr sz="4200" b="0">
                <a:solidFill>
                  <a:srgbClr val="0A0A0A"/>
                </a:solidFill>
                <a:latin typeface="微软雅黑" panose="020B0503020204020204" charset="-122"/>
              </a:defRPr>
            </a:pPr>
            <a:r>
              <a:t>六大管理模块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94560"/>
            <a:ext cx="3200400" cy="237744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23160"/>
            <a:ext cx="2651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250"/>
              </a:lnSpc>
              <a:defRPr sz="15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公告管理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265176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240"/>
              </a:lnSpc>
              <a:defRPr sz="14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CRUD + 查看详情</a:t>
            </a:r>
          </a:p>
          <a:p>
            <a:pPr algn="l">
              <a:lnSpc>
                <a:spcPts val="2240"/>
              </a:lnSpc>
              <a:defRPr sz="14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自动落款发布者</a:t>
            </a:r>
          </a:p>
          <a:p>
            <a:pPr algn="l">
              <a:lnSpc>
                <a:spcPts val="2240"/>
              </a:lnSpc>
              <a:defRPr sz="14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管理员/教师均可发布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2194560"/>
            <a:ext cx="3200400" cy="237744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423160"/>
            <a:ext cx="2651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250"/>
              </a:lnSpc>
              <a:defRPr sz="15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教师管理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834640"/>
            <a:ext cx="265176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240"/>
              </a:lnSpc>
              <a:defRPr sz="14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新增/启用/禁用</a:t>
            </a:r>
          </a:p>
          <a:p>
            <a:pPr algn="l">
              <a:lnSpc>
                <a:spcPts val="2240"/>
              </a:lnSpc>
              <a:defRPr sz="14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工号 + 手机号</a:t>
            </a:r>
          </a:p>
          <a:p>
            <a:pPr algn="l">
              <a:lnSpc>
                <a:spcPts val="2240"/>
              </a:lnSpc>
              <a:defRPr sz="14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二次确认防误操作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2194560"/>
            <a:ext cx="3200400" cy="237744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423160"/>
            <a:ext cx="2651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250"/>
              </a:lnSpc>
              <a:defRPr sz="15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学生管理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834640"/>
            <a:ext cx="265176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240"/>
              </a:lnSpc>
              <a:defRPr sz="14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搜索/编辑信息</a:t>
            </a:r>
          </a:p>
          <a:p>
            <a:pPr algn="l">
              <a:lnSpc>
                <a:spcPts val="2240"/>
              </a:lnSpc>
              <a:defRPr sz="14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重置密码 123456</a:t>
            </a:r>
          </a:p>
          <a:p>
            <a:pPr algn="l">
              <a:lnSpc>
                <a:spcPts val="2240"/>
              </a:lnSpc>
              <a:defRPr sz="14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学号 20260001+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937760"/>
            <a:ext cx="3200400" cy="237744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166360"/>
            <a:ext cx="2651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250"/>
              </a:lnSpc>
              <a:defRPr sz="15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课程管理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577840"/>
            <a:ext cx="265176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240"/>
              </a:lnSpc>
              <a:defRPr sz="14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CRUD + 启用/停用</a:t>
            </a:r>
          </a:p>
          <a:p>
            <a:pPr algn="l">
              <a:lnSpc>
                <a:spcPts val="2240"/>
              </a:lnSpc>
              <a:defRPr sz="14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双下拉学期</a:t>
            </a:r>
          </a:p>
          <a:p>
            <a:pPr algn="l">
              <a:lnSpc>
                <a:spcPts val="2240"/>
              </a:lnSpc>
              <a:defRPr sz="14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下拉选择执教老师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4937760"/>
            <a:ext cx="3200400" cy="237744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5166360"/>
            <a:ext cx="2651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250"/>
              </a:lnSpc>
              <a:defRPr sz="15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角色权限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5577840"/>
            <a:ext cx="265176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240"/>
              </a:lnSpc>
              <a:defRPr sz="14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角色 CRUD + 菜单树</a:t>
            </a:r>
          </a:p>
          <a:p>
            <a:pPr algn="l">
              <a:lnSpc>
                <a:spcPts val="2240"/>
              </a:lnSpc>
              <a:defRPr sz="14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RBAC 权限模型</a:t>
            </a:r>
          </a:p>
          <a:p>
            <a:pPr algn="l">
              <a:lnSpc>
                <a:spcPts val="2240"/>
              </a:lnSpc>
              <a:defRPr sz="14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前端动态菜单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4937760"/>
            <a:ext cx="3200400" cy="237744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5166360"/>
            <a:ext cx="2651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250"/>
              </a:lnSpc>
              <a:defRPr sz="15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课程资料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5577840"/>
            <a:ext cx="265176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240"/>
              </a:lnSpc>
              <a:defRPr sz="14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按课程组织</a:t>
            </a:r>
          </a:p>
          <a:p>
            <a:pPr algn="l">
              <a:lnSpc>
                <a:spcPts val="2240"/>
              </a:lnSpc>
              <a:defRPr sz="14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教师上传/学生下载</a:t>
            </a:r>
          </a:p>
          <a:p>
            <a:pPr algn="l">
              <a:lnSpc>
                <a:spcPts val="2240"/>
              </a:lnSpc>
              <a:defRPr sz="14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100MB · 归属校验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217920"/>
            <a:ext cx="10698480" cy="19050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00"/>
              </a:lnSpc>
              <a:defRPr sz="12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教师端 &amp; 学生端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36576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ts val="1800"/>
              </a:lnSpc>
              <a:defRPr sz="1200" b="0">
                <a:solidFill>
                  <a:srgbClr val="999999"/>
                </a:solidFill>
                <a:latin typeface="Arial" panose="020B0604020202020204"/>
              </a:defRPr>
            </a:pPr>
            <a:r>
              <a:t>07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6300"/>
              </a:lnSpc>
              <a:defRPr sz="4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教学 + 学习 · 双端闭环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560320"/>
            <a:ext cx="5029200" cy="32918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4297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600"/>
              </a:lnSpc>
              <a:defRPr sz="2400" b="1">
                <a:solidFill>
                  <a:srgbClr val="FFFFFF"/>
                </a:solidFill>
                <a:latin typeface="Arial" panose="020B0604020202020204"/>
              </a:defRPr>
            </a:pPr>
            <a:r>
              <a:t>TEACHER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383280"/>
            <a:ext cx="429768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880"/>
              </a:lnSpc>
              <a:defRPr sz="1600" b="0">
                <a:solidFill>
                  <a:srgbClr val="BFBFBF"/>
                </a:solidFill>
                <a:latin typeface="微软雅黑" panose="020B0503020204020204" charset="-122"/>
              </a:defRPr>
            </a:pPr>
            <a:r>
              <a:t>纵向课程列表 · 点击进入详情</a:t>
            </a:r>
          </a:p>
          <a:p>
            <a:pPr algn="l">
              <a:lnSpc>
                <a:spcPts val="2880"/>
              </a:lnSpc>
              <a:defRPr sz="1600" b="0">
                <a:solidFill>
                  <a:srgbClr val="BFBFBF"/>
                </a:solidFill>
                <a:latin typeface="微软雅黑" panose="020B0503020204020204" charset="-122"/>
              </a:defRPr>
            </a:pPr>
            <a:r>
              <a:t>学生姓名搜索 · checkbox 批量录入</a:t>
            </a:r>
          </a:p>
          <a:p>
            <a:pPr algn="l">
              <a:lnSpc>
                <a:spcPts val="2880"/>
              </a:lnSpc>
              <a:defRPr sz="1600" b="0">
                <a:solidFill>
                  <a:srgbClr val="BFBFBF"/>
                </a:solidFill>
                <a:latin typeface="微软雅黑" panose="020B0503020204020204" charset="-122"/>
              </a:defRPr>
            </a:pPr>
            <a:r>
              <a:t>成绩 0-100 分 · 归属校验</a:t>
            </a:r>
          </a:p>
          <a:p>
            <a:pPr algn="l">
              <a:lnSpc>
                <a:spcPts val="2880"/>
              </a:lnSpc>
              <a:defRPr sz="1600" b="0">
                <a:solidFill>
                  <a:srgbClr val="BFBFBF"/>
                </a:solidFill>
                <a:latin typeface="微软雅黑" panose="020B0503020204020204" charset="-122"/>
              </a:defRPr>
            </a:pPr>
            <a:r>
              <a:t>学期/学分/参课人数一目了然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560320"/>
            <a:ext cx="5029200" cy="32918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743200"/>
            <a:ext cx="4297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600"/>
              </a:lnSpc>
              <a:defRPr sz="2400" b="1">
                <a:solidFill>
                  <a:srgbClr val="FFFFFF"/>
                </a:solidFill>
                <a:latin typeface="Arial" panose="020B0604020202020204"/>
              </a:defRPr>
            </a:pPr>
            <a:r>
              <a:t>STUDENT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3383280"/>
            <a:ext cx="429768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880"/>
              </a:lnSpc>
              <a:defRPr sz="1600" b="0">
                <a:solidFill>
                  <a:srgbClr val="BFBFBF"/>
                </a:solidFill>
                <a:latin typeface="微软雅黑" panose="020B0503020204020204" charset="-122"/>
              </a:defRPr>
            </a:pPr>
            <a:r>
              <a:t>选课四重校验 · 进度条可视化</a:t>
            </a:r>
          </a:p>
          <a:p>
            <a:pPr algn="l">
              <a:lnSpc>
                <a:spcPts val="2880"/>
              </a:lnSpc>
              <a:defRPr sz="1600" b="0">
                <a:solidFill>
                  <a:srgbClr val="BFBFBF"/>
                </a:solidFill>
                <a:latin typeface="微软雅黑" panose="020B0503020204020204" charset="-122"/>
              </a:defRPr>
            </a:pPr>
            <a:r>
              <a:t>统计卡片：已获学分/平均分/通过率</a:t>
            </a:r>
          </a:p>
          <a:p>
            <a:pPr algn="l">
              <a:lnSpc>
                <a:spcPts val="2880"/>
              </a:lnSpc>
              <a:defRPr sz="1600" b="0">
                <a:solidFill>
                  <a:srgbClr val="BFBFBF"/>
                </a:solidFill>
                <a:latin typeface="微软雅黑" panose="020B0503020204020204" charset="-122"/>
              </a:defRPr>
            </a:pPr>
            <a:r>
              <a:t>课程资料（仅已选课程可见）</a:t>
            </a:r>
          </a:p>
          <a:p>
            <a:pPr algn="l">
              <a:lnSpc>
                <a:spcPts val="2880"/>
              </a:lnSpc>
              <a:defRPr sz="1600" b="0">
                <a:solidFill>
                  <a:srgbClr val="BFBFBF"/>
                </a:solidFill>
                <a:latin typeface="微软雅黑" panose="020B0503020204020204" charset="-122"/>
              </a:defRPr>
            </a:pPr>
            <a:r>
              <a:t>公告时间线 · 忘记密码手机号重置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2560320"/>
            <a:ext cx="12700" cy="329184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6217920"/>
            <a:ext cx="10698480" cy="1905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00"/>
              </a:lnSpc>
              <a:defRPr sz="1200" b="0">
                <a:solidFill>
                  <a:srgbClr val="A3A3A3"/>
                </a:solidFill>
                <a:latin typeface="微软雅黑" panose="020B0503020204020204" charset="-122"/>
              </a:defRPr>
            </a:pPr>
            <a:r>
              <a:t>技术亮点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36576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ts val="1800"/>
              </a:lnSpc>
              <a:defRPr sz="1200" b="0">
                <a:solidFill>
                  <a:srgbClr val="A3A3A3"/>
                </a:solidFill>
                <a:latin typeface="Arial" panose="020B0604020202020204"/>
              </a:defRPr>
            </a:pPr>
            <a:r>
              <a:t>08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6300"/>
              </a:lnSpc>
              <a:defRPr sz="4200" b="0">
                <a:solidFill>
                  <a:srgbClr val="0A0A0A"/>
                </a:solidFill>
                <a:latin typeface="微软雅黑" panose="020B0503020204020204" charset="-122"/>
              </a:defRPr>
            </a:pPr>
            <a:r>
              <a:t>不只是 CRUD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3200400" cy="219456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8600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250"/>
              </a:lnSpc>
              <a:defRPr sz="15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RBAC 动态权限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97480"/>
            <a:ext cx="27432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240"/>
              </a:lnSpc>
              <a:defRPr sz="14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role_menu 表驱动 · 管理员分配菜单</a:t>
            </a:r>
          </a:p>
          <a:p>
            <a:pPr algn="l">
              <a:lnSpc>
                <a:spcPts val="2240"/>
              </a:lnSpc>
              <a:defRPr sz="14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教师只能操作自己的数据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2103120"/>
            <a:ext cx="3200400" cy="219456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28600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250"/>
              </a:lnSpc>
              <a:defRPr sz="15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课程资料上传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697480"/>
            <a:ext cx="27432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240"/>
              </a:lnSpc>
              <a:defRPr sz="14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按课程组织 · 教师上传学生下载</a:t>
            </a:r>
          </a:p>
          <a:p>
            <a:pPr algn="l">
              <a:lnSpc>
                <a:spcPts val="2240"/>
              </a:lnSpc>
              <a:defRPr sz="14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100MB 全格式 · 归属校验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2103120"/>
            <a:ext cx="3200400" cy="219456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228600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250"/>
              </a:lnSpc>
              <a:defRPr sz="15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选课冲突检测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697480"/>
            <a:ext cx="27432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240"/>
              </a:lnSpc>
              <a:defRPr sz="14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同 schedule 不可重复选</a:t>
            </a:r>
          </a:p>
          <a:p>
            <a:pPr algn="l">
              <a:lnSpc>
                <a:spcPts val="2240"/>
              </a:lnSpc>
              <a:defRPr sz="14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提示冲突课程名和时段 · 5 门上限制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572000"/>
            <a:ext cx="3200400" cy="219456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75488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250"/>
              </a:lnSpc>
              <a:defRPr sz="15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移动端响应式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166360"/>
            <a:ext cx="27432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240"/>
              </a:lnSpc>
              <a:defRPr sz="14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768px 以下侧边栏变抽屉</a:t>
            </a:r>
          </a:p>
          <a:p>
            <a:pPr algn="l">
              <a:lnSpc>
                <a:spcPts val="2240"/>
              </a:lnSpc>
              <a:defRPr sz="14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表格横向滚动 · iPhone 测试通过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4572000"/>
            <a:ext cx="3200400" cy="219456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75488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250"/>
              </a:lnSpc>
              <a:defRPr sz="15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忘记密码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5166360"/>
            <a:ext cx="27432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240"/>
              </a:lnSpc>
              <a:defRPr sz="14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账号+预留手机号验证</a:t>
            </a:r>
          </a:p>
          <a:p>
            <a:pPr algn="l">
              <a:lnSpc>
                <a:spcPts val="2240"/>
              </a:lnSpc>
              <a:defRPr sz="14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重置为 123456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4572000"/>
            <a:ext cx="3200400" cy="219456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475488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250"/>
              </a:lnSpc>
              <a:defRPr sz="15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定时任务+邮件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5166360"/>
            <a:ext cx="27432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240"/>
              </a:lnSpc>
              <a:defRPr sz="14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每日凌晨扫描满员课程</a:t>
            </a:r>
          </a:p>
          <a:p>
            <a:pPr algn="l">
              <a:lnSpc>
                <a:spcPts val="2240"/>
              </a:lnSpc>
              <a:defRPr sz="14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邮件预警教师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217920"/>
            <a:ext cx="10698480" cy="19050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00"/>
              </a:lnSpc>
              <a:defRPr sz="12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数据库设计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36576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ts val="1800"/>
              </a:lnSpc>
              <a:defRPr sz="1200" b="0">
                <a:solidFill>
                  <a:srgbClr val="999999"/>
                </a:solidFill>
                <a:latin typeface="Arial" panose="020B0604020202020204"/>
              </a:defRPr>
            </a:pPr>
            <a:r>
              <a:t>09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4800"/>
              </a:lnSpc>
              <a:defRPr sz="3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7 张数据表 · MySQL 8.0 · utf8mb4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029200" cy="5943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100"/>
              </a:lnSpc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user 用户表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21408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00"/>
              </a:lnSpc>
              <a:defRPr sz="1200" b="0">
                <a:solidFill>
                  <a:srgbClr val="BFBFBF"/>
                </a:solidFill>
                <a:latin typeface="微软雅黑" panose="020B0503020204020204" charset="-122"/>
              </a:defRPr>
            </a:pPr>
            <a:r>
              <a:t>管理员/教师/学生三合一 · BCrypt 加密 · 手机号找回密码 · 禁用启停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828800"/>
            <a:ext cx="5029200" cy="5943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7452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100"/>
              </a:lnSpc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course 课程表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21408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00"/>
              </a:lnSpc>
              <a:defRPr sz="1200" b="0">
                <a:solidFill>
                  <a:srgbClr val="BFBFBF"/>
                </a:solidFill>
                <a:latin typeface="微软雅黑" panose="020B0503020204020204" charset="-122"/>
              </a:defRPr>
            </a:pPr>
            <a:r>
              <a:t>名称 · 学分 · 总容量 · 已选人数 · 学期 · 上课时间 · 启用停用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560320"/>
            <a:ext cx="5029200" cy="5943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60604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100"/>
              </a:lnSpc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selection 选课表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00"/>
              </a:lnSpc>
              <a:defRPr sz="1200" b="0">
                <a:solidFill>
                  <a:srgbClr val="BFBFBF"/>
                </a:solidFill>
                <a:latin typeface="微软雅黑" panose="020B0503020204020204" charset="-122"/>
              </a:defRPr>
            </a:pPr>
            <a:r>
              <a:t>student+course 唯一约束防重复 · 成绩可空 · 选课时间戳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560320"/>
            <a:ext cx="5029200" cy="5943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60604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100"/>
              </a:lnSpc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notice 公告表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852928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00"/>
              </a:lnSpc>
              <a:defRPr sz="1200" b="0">
                <a:solidFill>
                  <a:srgbClr val="BFBFBF"/>
                </a:solidFill>
                <a:latin typeface="微软雅黑" panose="020B0503020204020204" charset="-122"/>
              </a:defRPr>
            </a:pPr>
            <a:r>
              <a:t>标题 · 内容 · 发布者自动落款 · 时间自动维护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291840"/>
            <a:ext cx="5029200" cy="5943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33756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100"/>
              </a:lnSpc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menu 菜单表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584448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00"/>
              </a:lnSpc>
              <a:defRPr sz="1200" b="0">
                <a:solidFill>
                  <a:srgbClr val="BFBFBF"/>
                </a:solidFill>
                <a:latin typeface="微软雅黑" panose="020B0503020204020204" charset="-122"/>
              </a:defRPr>
            </a:pPr>
            <a:r>
              <a:t>名称 · 访问路径 · 权限编码 · 上级菜单 · 排序 · 启停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291840"/>
            <a:ext cx="5029200" cy="5943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33756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100"/>
              </a:lnSpc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role 角色表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584448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00"/>
              </a:lnSpc>
              <a:defRPr sz="1200" b="0">
                <a:solidFill>
                  <a:srgbClr val="BFBFBF"/>
                </a:solidFill>
                <a:latin typeface="微软雅黑" panose="020B0503020204020204" charset="-122"/>
              </a:defRPr>
            </a:pPr>
            <a:r>
              <a:t>ROLE_ADMIN / TEACHER / STUDENT · 通过 role_menu 关联菜单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023360"/>
            <a:ext cx="5029200" cy="5943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06908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100"/>
              </a:lnSpc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course_file 文件表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315968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00"/>
              </a:lnSpc>
              <a:defRPr sz="1200" b="0">
                <a:solidFill>
                  <a:srgbClr val="BFBFBF"/>
                </a:solidFill>
                <a:latin typeface="微软雅黑" panose="020B0503020204020204" charset="-122"/>
              </a:defRPr>
            </a:pPr>
            <a:r>
              <a:t>资料上传 · UUID 存储 · 按课程关联 · 归属校验 · 权限隔离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303520"/>
            <a:ext cx="10698480" cy="914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34924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100"/>
              </a:lnSpc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外键关系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62356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00"/>
              </a:lnSpc>
              <a:defRPr sz="12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user → course (teacher_id)    user → selection (student_id)    course → selection (course_id)    role ↔ menu (role_menu)    course → course_file (course_id)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6355080"/>
            <a:ext cx="10698480" cy="1905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00"/>
              </a:lnSpc>
              <a:defRPr sz="1200" b="0">
                <a:solidFill>
                  <a:srgbClr val="999999"/>
                </a:solidFill>
                <a:latin typeface="Arial" panose="020B0604020202020204"/>
              </a:defRPr>
            </a:pPr>
            <a:r>
              <a:t>10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457200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ts val="1500"/>
              </a:lnSpc>
              <a:defRPr sz="1000" b="0">
                <a:solidFill>
                  <a:srgbClr val="999999"/>
                </a:solidFill>
                <a:latin typeface="Arial" panose="020B0604020202020204"/>
              </a:defRPr>
            </a:pPr>
            <a: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950"/>
              </a:lnSpc>
              <a:defRPr sz="1300" b="1">
                <a:solidFill>
                  <a:srgbClr val="BFBFBF"/>
                </a:solidFill>
                <a:latin typeface="Arial" panose="020B0604020202020204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457200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6720"/>
              </a:lnSpc>
              <a:defRPr sz="56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感谢聆听</a:t>
            </a:r>
            <a:br/>
            <a:r>
              <a:t>敬请指正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669280"/>
            <a:ext cx="4572000" cy="1905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76072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00"/>
              </a:lnSpc>
              <a:defRPr sz="12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学生选课管理系统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5760720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ts val="1800"/>
              </a:lnSpc>
              <a:defRPr sz="1200" b="0">
                <a:solidFill>
                  <a:srgbClr val="999999"/>
                </a:solidFill>
                <a:latin typeface="Arial" panose="020B0604020202020204"/>
              </a:defRPr>
            </a:pPr>
            <a:r>
              <a:t>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45720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00"/>
              </a:lnSpc>
              <a:defRPr sz="1200" b="0">
                <a:solidFill>
                  <a:srgbClr val="A3A3A3"/>
                </a:solidFill>
                <a:latin typeface="Arial" panose="020B0604020202020204"/>
              </a:defRPr>
            </a:pPr>
            <a: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828800"/>
            <a:ext cx="914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7200"/>
              </a:lnSpc>
              <a:defRPr sz="4800" b="0">
                <a:solidFill>
                  <a:srgbClr val="0A0A0A"/>
                </a:solidFill>
                <a:latin typeface="Arial" panose="020B0604020202020204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1874520"/>
            <a:ext cx="3931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000"/>
              </a:lnSpc>
              <a:defRPr sz="2000" b="1">
                <a:solidFill>
                  <a:srgbClr val="0A0A0A"/>
                </a:solidFill>
                <a:latin typeface="微软雅黑" panose="020B0503020204020204" charset="-122"/>
              </a:defRPr>
            </a:pPr>
            <a:r>
              <a:t>全栈 Spring Boot + Vue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331720"/>
            <a:ext cx="3931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250"/>
              </a:lnSpc>
              <a:defRPr sz="15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MVC 分层 · MyBatis-Plus · JWT · 移动端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3108960"/>
            <a:ext cx="5029200" cy="19050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474720"/>
            <a:ext cx="914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7200"/>
              </a:lnSpc>
              <a:defRPr sz="4800" b="0">
                <a:solidFill>
                  <a:srgbClr val="0A0A0A"/>
                </a:solidFill>
                <a:latin typeface="Arial" panose="020B0604020202020204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3520440"/>
            <a:ext cx="3931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000"/>
              </a:lnSpc>
              <a:defRPr sz="2000" b="1">
                <a:solidFill>
                  <a:srgbClr val="0A0A0A"/>
                </a:solidFill>
                <a:latin typeface="微软雅黑" panose="020B0503020204020204" charset="-122"/>
              </a:defRPr>
            </a:pPr>
            <a:r>
              <a:t>RBAC 权限隔离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3977640"/>
            <a:ext cx="3931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250"/>
              </a:lnSpc>
              <a:defRPr sz="15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动态菜单 · 归属校验 · 三端安全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4754880"/>
            <a:ext cx="5029200" cy="19050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5120640"/>
            <a:ext cx="914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7200"/>
              </a:lnSpc>
              <a:defRPr sz="4800" b="0">
                <a:solidFill>
                  <a:srgbClr val="0A0A0A"/>
                </a:solidFill>
                <a:latin typeface="Arial" panose="020B0604020202020204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5166360"/>
            <a:ext cx="3931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000"/>
              </a:lnSpc>
              <a:defRPr sz="2000" b="1">
                <a:solidFill>
                  <a:srgbClr val="0A0A0A"/>
                </a:solidFill>
                <a:latin typeface="微软雅黑" panose="020B0503020204020204" charset="-122"/>
              </a:defRPr>
            </a:pPr>
            <a:r>
              <a:t>20 个测试用例全过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5623560"/>
            <a:ext cx="3931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250"/>
              </a:lnSpc>
              <a:defRPr sz="1500" b="0">
                <a:solidFill>
                  <a:srgbClr val="525252"/>
                </a:solidFill>
                <a:latin typeface="微软雅黑" panose="020B0503020204020204" charset="-122"/>
              </a:defRPr>
            </a:pPr>
            <a:r>
              <a:t>选课/成绩/权限/冲突检测 · 全部通过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6400800"/>
            <a:ext cx="5029200" cy="19050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0" y="6035040"/>
            <a:ext cx="50292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621792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00"/>
              </a:lnSpc>
              <a:defRPr sz="1200" b="0">
                <a:solidFill>
                  <a:srgbClr val="A3A3A3"/>
                </a:solidFill>
                <a:latin typeface="Arial" panose="020B0604020202020204"/>
              </a:defRPr>
            </a:pPr>
            <a:r>
              <a:t>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2054</Words>
  <Application>WPS 演示</Application>
  <PresentationFormat>On-screen Show (4:3)</PresentationFormat>
  <Paragraphs>302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Q</cp:lastModifiedBy>
  <cp:revision>2</cp:revision>
  <dcterms:created xsi:type="dcterms:W3CDTF">2013-01-27T09:14:00Z</dcterms:created>
  <dcterms:modified xsi:type="dcterms:W3CDTF">2026-06-30T15:01:11Z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B565F5EDA44B4BA1A7869F3B8496D6E8_12</vt:lpwstr>
  </property>
  <property fmtid="{D5CDD505-2E9C-101B-9397-08002B2CF9AE}" pid="3" name="KSOProductBuildVer">
    <vt:lpwstr>2052-12.1.0.26895</vt:lpwstr>
  </property>
</Properties>
</file>