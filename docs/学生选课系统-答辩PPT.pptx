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3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1828800"/>
            <a:ext cx="5486400" cy="548640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029200"/>
            <a:ext cx="3200400" cy="3200400"/>
          </a:xfrm>
          <a:prstGeom prst="ellipse">
            <a:avLst/>
          </a:prstGeom>
          <a:solidFill>
            <a:srgbClr val="165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835" y="2052320"/>
            <a:ext cx="9144000" cy="1097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学生选课管理系统</a:t>
            </a:r>
            <a:endParaRPr sz="5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9144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400" b="0">
                <a:solidFill>
                  <a:srgbClr val="BBDEFB"/>
                </a:solidFill>
                <a:latin typeface="微软雅黑" panose="020B0503020204020204" charset="-122"/>
                <a:ea typeface="微软雅黑" panose="020B0503020204020204" charset="-122"/>
              </a:rPr>
              <a:t>基于 Spring Boot + Vue 的课程设计</a:t>
            </a:r>
            <a:endParaRPr sz="2400" b="0">
              <a:solidFill>
                <a:srgbClr val="BBDEF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14400" y="4114800"/>
            <a:ext cx="1828800" cy="54864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91440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0">
                <a:solidFill>
                  <a:srgbClr val="90CAF9"/>
                </a:solidFill>
                <a:latin typeface="微软雅黑" panose="020B0503020204020204" charset="-122"/>
                <a:ea typeface="微软雅黑" panose="020B0503020204020204" charset="-122"/>
              </a:rPr>
              <a:t>课程设计答辩  |  前后端分离架构  |  B/S 三层架构</a:t>
            </a:r>
            <a:endParaRPr sz="1600" b="0">
              <a:solidFill>
                <a:srgbClr val="90CAF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88745" y="55816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答辩人：邱喆</a:t>
            </a:r>
            <a:r>
              <a:rPr lang="zh-CN" altLang="en-US"/>
              <a:t>喆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077585" y="55816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指导教师：尹</a:t>
            </a:r>
            <a:r>
              <a:rPr lang="zh-CN" altLang="en-US"/>
              <a:t>菠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0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技术栈</a:t>
            </a:r>
            <a:endParaRPr sz="30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Tech Stack</a:t>
            </a:r>
            <a:endParaRPr sz="14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97280" cy="4572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11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2 / 14</a:t>
            </a:r>
            <a:endParaRPr sz="11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828800" cy="914400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前端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34640" y="1755648"/>
            <a:ext cx="82296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000" b="1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Vue 2 + Element UI</a:t>
            </a:r>
            <a:endParaRPr sz="2000" b="1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34640" y="2194560"/>
            <a:ext cx="8229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Axios + Vue Router + Vuex</a:t>
            </a:r>
            <a:endParaRPr sz="14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834640" y="2606040"/>
            <a:ext cx="8229600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788920"/>
            <a:ext cx="1828800" cy="914400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后端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34640" y="2898648"/>
            <a:ext cx="82296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000" b="1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Spring Boot 2.7</a:t>
            </a:r>
            <a:endParaRPr sz="2000" b="1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834640" y="3337560"/>
            <a:ext cx="8229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MyBatis-Plus + Spring Security + JWT</a:t>
            </a:r>
            <a:endParaRPr sz="14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834640" y="3749040"/>
            <a:ext cx="8229600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1828800" cy="914400"/>
          </a:xfrm>
          <a:prstGeom prst="round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中间件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834640" y="4041648"/>
            <a:ext cx="82296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000" b="1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MySQL 8 + Redis</a:t>
            </a:r>
            <a:endParaRPr sz="2000" b="1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834640" y="4480560"/>
            <a:ext cx="8229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RabbitMQ 异步消息队列</a:t>
            </a:r>
            <a:endParaRPr sz="14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834640" y="4892040"/>
            <a:ext cx="8229600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5074920"/>
            <a:ext cx="1828800" cy="914400"/>
          </a:xfrm>
          <a:prstGeom prst="round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安全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834640" y="5184648"/>
            <a:ext cx="82296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000" b="1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BCrypt 密码加密</a:t>
            </a:r>
            <a:endParaRPr sz="2000" b="1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834640" y="5623560"/>
            <a:ext cx="8229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RBAC 权限模型 + 无状态 JWT</a:t>
            </a:r>
            <a:endParaRPr sz="14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1520" y="6035040"/>
            <a:ext cx="10972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3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部署方式：前后端分离  |  架构模式：B/S 三层架构</a:t>
            </a:r>
            <a:endParaRPr sz="13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0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系统核心功能</a:t>
            </a:r>
            <a:endParaRPr sz="30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Core Functions</a:t>
            </a:r>
            <a:endParaRPr sz="14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97280" cy="4572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11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3 / 14</a:t>
            </a:r>
            <a:endParaRPr sz="11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371600" y="1645920"/>
            <a:ext cx="9418320" cy="1005840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教师发布课程   ➜   学生选课   ➜   教师录入成绩</a:t>
            </a:r>
            <a:endParaRPr sz="2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097280" y="3108960"/>
            <a:ext cx="3200400" cy="2011680"/>
          </a:xfrm>
          <a:prstGeom prst="round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3108960"/>
            <a:ext cx="73152" cy="20116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3246120"/>
            <a:ext cx="274320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>
                <a:solidFill>
                  <a:srgbClr val="1A73E8"/>
                </a:solidFill>
                <a:latin typeface="微软雅黑" panose="020B0503020204020204" charset="-122"/>
                <a:ea typeface="微软雅黑" panose="020B0503020204020204" charset="-122"/>
              </a:rPr>
              <a:t>① 发布课程</a:t>
            </a:r>
            <a:endParaRPr sz="1800" b="1">
              <a:solidFill>
                <a:srgbClr val="1A73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25880" y="3749040"/>
            <a:ext cx="2743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>
                <a:solidFill>
                  <a:srgbClr val="1A73E8"/>
                </a:solidFill>
                <a:latin typeface="微软雅黑" panose="020B0503020204020204" charset="-122"/>
                <a:ea typeface="微软雅黑" panose="020B0503020204020204" charset="-122"/>
              </a:rPr>
              <a:t>教师创建课程</a:t>
            </a:r>
            <a:endParaRPr sz="1300" b="1">
              <a:solidFill>
                <a:srgbClr val="1A73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25880" y="4114800"/>
            <a:ext cx="274320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设置容量/时间/学分</a:t>
            </a:r>
            <a:endParaRPr sz="12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663440" y="3108960"/>
            <a:ext cx="3200400" cy="2011680"/>
          </a:xfrm>
          <a:prstGeom prst="round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63440" y="3108960"/>
            <a:ext cx="73152" cy="201168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3246120"/>
            <a:ext cx="274320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>
                <a:solidFill>
                  <a:srgbClr val="34A853"/>
                </a:solidFill>
                <a:latin typeface="微软雅黑" panose="020B0503020204020204" charset="-122"/>
                <a:ea typeface="微软雅黑" panose="020B0503020204020204" charset="-122"/>
              </a:rPr>
              <a:t>② 学生选课</a:t>
            </a:r>
            <a:endParaRPr sz="1800" b="1">
              <a:solidFill>
                <a:srgbClr val="34A85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892040" y="3749040"/>
            <a:ext cx="2743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>
                <a:solidFill>
                  <a:srgbClr val="34A853"/>
                </a:solidFill>
                <a:latin typeface="微软雅黑" panose="020B0503020204020204" charset="-122"/>
                <a:ea typeface="微软雅黑" panose="020B0503020204020204" charset="-122"/>
              </a:rPr>
              <a:t>选课闭环核心</a:t>
            </a:r>
            <a:endParaRPr sz="1300" b="1">
              <a:solidFill>
                <a:srgbClr val="34A85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92040" y="4114800"/>
            <a:ext cx="274320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6步校验 + 事务保护</a:t>
            </a:r>
            <a:endParaRPr sz="12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229600" y="3108960"/>
            <a:ext cx="3200400" cy="2011680"/>
          </a:xfrm>
          <a:prstGeom prst="round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3108960"/>
            <a:ext cx="73152" cy="201168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3246120"/>
            <a:ext cx="274320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>
                <a:solidFill>
                  <a:srgbClr val="FF6F00"/>
                </a:solidFill>
                <a:latin typeface="微软雅黑" panose="020B0503020204020204" charset="-122"/>
                <a:ea typeface="微软雅黑" panose="020B0503020204020204" charset="-122"/>
              </a:rPr>
              <a:t>③ 录入成绩</a:t>
            </a:r>
            <a:endParaRPr sz="1800" b="1">
              <a:solidFill>
                <a:srgbClr val="FF6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458200" y="3749040"/>
            <a:ext cx="2743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>
                <a:solidFill>
                  <a:srgbClr val="FF6F00"/>
                </a:solidFill>
                <a:latin typeface="微软雅黑" panose="020B0503020204020204" charset="-122"/>
                <a:ea typeface="微软雅黑" panose="020B0503020204020204" charset="-122"/>
              </a:rPr>
              <a:t>教师评教评分</a:t>
            </a:r>
            <a:endParaRPr sz="1300" b="1">
              <a:solidFill>
                <a:srgbClr val="FF6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458200" y="4114800"/>
            <a:ext cx="274320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单个 / 批量录入</a:t>
            </a:r>
            <a:endParaRPr sz="12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ight Arrow 22"/>
          <p:cNvSpPr/>
          <p:nvPr/>
        </p:nvSpPr>
        <p:spPr>
          <a:xfrm>
            <a:off x="4389120" y="3931920"/>
            <a:ext cx="548640" cy="457200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7955279" y="3931920"/>
            <a:ext cx="548640" cy="457200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0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核心功能①  教师发布课程</a:t>
            </a:r>
            <a:endParaRPr sz="30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Core Function 1</a:t>
            </a:r>
            <a:endParaRPr sz="14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97280" cy="4572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11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4 / 14</a:t>
            </a:r>
            <a:endParaRPr sz="11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972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500" b="1">
                <a:solidFill>
                  <a:srgbClr val="1A73E8"/>
                </a:solidFill>
                <a:latin typeface="微软雅黑" panose="020B0503020204020204" charset="-122"/>
                <a:ea typeface="微软雅黑" panose="020B0503020204020204" charset="-122"/>
              </a:rPr>
              <a:t>入口：AdminController  ➜  POST /api/admin/course/add</a:t>
            </a:r>
            <a:endParaRPr sz="1500" b="1">
              <a:solidFill>
                <a:srgbClr val="1A73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822960" y="2286000"/>
            <a:ext cx="640080" cy="64008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37360" y="2240280"/>
            <a:ext cx="36576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教师登录</a:t>
            </a:r>
            <a:endParaRPr sz="1800" b="1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37360" y="2651760"/>
            <a:ext cx="7315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携带 TEACHER 角色的 JWT Token</a:t>
            </a:r>
            <a:endParaRPr sz="13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115568" y="2926080"/>
            <a:ext cx="25400" cy="274320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3200400"/>
            <a:ext cx="640080" cy="64008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737360" y="3154680"/>
            <a:ext cx="36576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填写课程信息</a:t>
            </a:r>
            <a:endParaRPr sz="1800" b="1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737360" y="3566160"/>
            <a:ext cx="7315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名称 / 学分 / 容量 / 时间地点 / 学期</a:t>
            </a:r>
            <a:endParaRPr sz="13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115568" y="3840480"/>
            <a:ext cx="25400" cy="274320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737360" y="4069080"/>
            <a:ext cx="36576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Service 层处理</a:t>
            </a:r>
            <a:endParaRPr sz="1800" b="1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737360" y="4480560"/>
            <a:ext cx="7315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CourseService.addCourse() 写入 MySQL</a:t>
            </a:r>
            <a:endParaRPr sz="13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115568" y="4754880"/>
            <a:ext cx="25400" cy="274320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5029200"/>
            <a:ext cx="640080" cy="64008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737360" y="4983480"/>
            <a:ext cx="36576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清除缓存</a:t>
            </a:r>
            <a:endParaRPr sz="1800" b="1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737360" y="5394960"/>
            <a:ext cx="7315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@CacheEvict 清除可选课程缓存</a:t>
            </a:r>
            <a:endParaRPr sz="13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583680" y="2286000"/>
            <a:ext cx="4846320" cy="2560320"/>
          </a:xfrm>
          <a:prstGeom prst="round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0" y="2286000"/>
            <a:ext cx="73152" cy="256032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2423160"/>
            <a:ext cx="45720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700" b="1">
                <a:solidFill>
                  <a:srgbClr val="FF6F00"/>
                </a:solidFill>
                <a:latin typeface="微软雅黑" panose="020B0503020204020204" charset="-122"/>
                <a:ea typeface="微软雅黑" panose="020B0503020204020204" charset="-122"/>
              </a:rPr>
              <a:t>🔐 权限控制</a:t>
            </a:r>
            <a:endParaRPr sz="1700" b="1">
              <a:solidFill>
                <a:srgbClr val="FF6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812280" y="2926080"/>
            <a:ext cx="4572000" cy="1828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• @PreAuthorize 验证教师身份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• 教师只能编辑/删除自己的课程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• 数据隔离：teacher_id = 当前登录用户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• 管理员可管理所有课程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0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核心功能②  学生选课（系统最核心）</a:t>
            </a:r>
            <a:endParaRPr sz="30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Core Function 2</a:t>
            </a:r>
            <a:endParaRPr sz="14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97280" cy="4572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11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5 / 14</a:t>
            </a:r>
            <a:endParaRPr sz="11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972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>
                <a:solidFill>
                  <a:srgbClr val="1A73E8"/>
                </a:solidFill>
                <a:latin typeface="微软雅黑" panose="020B0503020204020204" charset="-122"/>
                <a:ea typeface="微软雅黑" panose="020B0503020204020204" charset="-122"/>
              </a:rPr>
              <a:t>入口：StudentController ➜ SelectionService.selectCourse()  （@Transactional 事务保护）</a:t>
            </a:r>
            <a:endParaRPr sz="1400" b="1">
              <a:solidFill>
                <a:srgbClr val="1A73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520" y="2057400"/>
            <a:ext cx="640080" cy="4572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640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步骤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371600" y="2057400"/>
            <a:ext cx="1828800" cy="4572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103120"/>
            <a:ext cx="1828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校验项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200400" y="2057400"/>
            <a:ext cx="5029200" cy="4572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2103120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校验逻辑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229600" y="2057400"/>
            <a:ext cx="3200400" cy="4572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103120"/>
            <a:ext cx="3200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失败提示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31520" y="2514600"/>
            <a:ext cx="10698480" cy="530352"/>
          </a:xfrm>
          <a:prstGeom prst="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606040"/>
            <a:ext cx="640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600" b="1">
                <a:solidFill>
                  <a:srgbClr val="1A73E8"/>
                </a:solidFill>
                <a:latin typeface="微软雅黑" panose="020B0503020204020204" charset="-122"/>
                <a:ea typeface="微软雅黑" panose="020B0503020204020204" charset="-122"/>
              </a:rPr>
              <a:t>①</a:t>
            </a:r>
            <a:endParaRPr sz="1600" b="1">
              <a:solidFill>
                <a:srgbClr val="1A73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371600" y="2606040"/>
            <a:ext cx="1828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重复选课</a:t>
            </a:r>
            <a:endParaRPr sz="1200" b="1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200400" y="2606040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同一学生 + 同一课程只能选一次</a:t>
            </a:r>
            <a:endParaRPr sz="11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29600" y="2606040"/>
            <a:ext cx="3200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您已选过该课程</a:t>
            </a:r>
            <a:endParaRPr sz="11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31520" y="3044952"/>
            <a:ext cx="1069848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136392"/>
            <a:ext cx="640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600" b="1">
                <a:solidFill>
                  <a:srgbClr val="1A73E8"/>
                </a:solidFill>
                <a:latin typeface="微软雅黑" panose="020B0503020204020204" charset="-122"/>
                <a:ea typeface="微软雅黑" panose="020B0503020204020204" charset="-122"/>
              </a:rPr>
              <a:t>②</a:t>
            </a:r>
            <a:endParaRPr sz="1600" b="1">
              <a:solidFill>
                <a:srgbClr val="1A73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371600" y="3136392"/>
            <a:ext cx="1828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数量上限</a:t>
            </a:r>
            <a:endParaRPr sz="1200" b="1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200400" y="3136392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每学生最多选 5 门课</a:t>
            </a:r>
            <a:endParaRPr sz="11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29600" y="3136392"/>
            <a:ext cx="3200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选课已达上限</a:t>
            </a:r>
            <a:endParaRPr sz="11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31520" y="3575304"/>
            <a:ext cx="10698480" cy="530352"/>
          </a:xfrm>
          <a:prstGeom prst="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666744"/>
            <a:ext cx="640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600" b="1">
                <a:solidFill>
                  <a:srgbClr val="1A73E8"/>
                </a:solidFill>
                <a:latin typeface="微软雅黑" panose="020B0503020204020204" charset="-122"/>
                <a:ea typeface="微软雅黑" panose="020B0503020204020204" charset="-122"/>
              </a:rPr>
              <a:t>③</a:t>
            </a:r>
            <a:endParaRPr sz="1600" b="1">
              <a:solidFill>
                <a:srgbClr val="1A73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371600" y="3666744"/>
            <a:ext cx="1828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课程状态</a:t>
            </a:r>
            <a:endParaRPr sz="1200" b="1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200400" y="3666744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课程存在且 status=1（启用）</a:t>
            </a:r>
            <a:endParaRPr sz="11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29600" y="3666744"/>
            <a:ext cx="3200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课程不存在或已停用</a:t>
            </a:r>
            <a:endParaRPr sz="11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31520" y="4105656"/>
            <a:ext cx="1069848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197096"/>
            <a:ext cx="640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600" b="1">
                <a:solidFill>
                  <a:srgbClr val="1A73E8"/>
                </a:solidFill>
                <a:latin typeface="微软雅黑" panose="020B0503020204020204" charset="-122"/>
                <a:ea typeface="微软雅黑" panose="020B0503020204020204" charset="-122"/>
              </a:rPr>
              <a:t>④</a:t>
            </a:r>
            <a:endParaRPr sz="1600" b="1">
              <a:solidFill>
                <a:srgbClr val="1A73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371600" y="4197096"/>
            <a:ext cx="1828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时间冲突</a:t>
            </a:r>
            <a:endParaRPr sz="1200" b="1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200400" y="4197096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schedule 字段不能与已选课重复</a:t>
            </a:r>
            <a:endParaRPr sz="11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29600" y="4197096"/>
            <a:ext cx="3200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上课时间冲突</a:t>
            </a:r>
            <a:endParaRPr sz="11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731520" y="4636008"/>
            <a:ext cx="10698480" cy="530352"/>
          </a:xfrm>
          <a:prstGeom prst="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727448"/>
            <a:ext cx="640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600" b="1">
                <a:solidFill>
                  <a:srgbClr val="1A73E8"/>
                </a:solidFill>
                <a:latin typeface="微软雅黑" panose="020B0503020204020204" charset="-122"/>
                <a:ea typeface="微软雅黑" panose="020B0503020204020204" charset="-122"/>
              </a:rPr>
              <a:t>⑤</a:t>
            </a:r>
            <a:endParaRPr sz="1600" b="1">
              <a:solidFill>
                <a:srgbClr val="1A73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371600" y="4727448"/>
            <a:ext cx="1828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课程容量</a:t>
            </a:r>
            <a:endParaRPr sz="1200" b="1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200400" y="4727448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selected &lt; capacity</a:t>
            </a:r>
            <a:endParaRPr sz="11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229600" y="4727448"/>
            <a:ext cx="3200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课程已满员</a:t>
            </a:r>
            <a:endParaRPr sz="11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731520" y="5166360"/>
            <a:ext cx="1069848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257800"/>
            <a:ext cx="640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600" b="1">
                <a:solidFill>
                  <a:srgbClr val="34A853"/>
                </a:solidFill>
                <a:latin typeface="微软雅黑" panose="020B0503020204020204" charset="-122"/>
                <a:ea typeface="微软雅黑" panose="020B0503020204020204" charset="-122"/>
              </a:rPr>
              <a:t>⑥</a:t>
            </a:r>
            <a:endParaRPr sz="1600" b="1">
              <a:solidFill>
                <a:srgbClr val="34A85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371600" y="5257800"/>
            <a:ext cx="1828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>
                <a:solidFill>
                  <a:srgbClr val="34A853"/>
                </a:solidFill>
                <a:latin typeface="微软雅黑" panose="020B0503020204020204" charset="-122"/>
                <a:ea typeface="微软雅黑" panose="020B0503020204020204" charset="-122"/>
              </a:rPr>
              <a:t>写入数据</a:t>
            </a:r>
            <a:endParaRPr sz="1200" b="1">
              <a:solidFill>
                <a:srgbClr val="34A85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200400" y="5257800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插入选课记录 + 课程人数 +1</a:t>
            </a:r>
            <a:endParaRPr sz="11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229600" y="5257800"/>
            <a:ext cx="3200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1">
                <a:solidFill>
                  <a:srgbClr val="34A853"/>
                </a:solidFill>
                <a:latin typeface="微软雅黑" panose="020B0503020204020204" charset="-122"/>
                <a:ea typeface="微软雅黑" panose="020B0503020204020204" charset="-122"/>
              </a:rPr>
              <a:t>✅ 选课成功</a:t>
            </a:r>
            <a:endParaRPr sz="1100" b="1">
              <a:solidFill>
                <a:srgbClr val="34A85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731520" y="5760720"/>
            <a:ext cx="10698480" cy="502920"/>
          </a:xfrm>
          <a:prstGeom prst="round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选课成功 ➜  RabbitMQ 异步发送邮件通知（不阻塞主线程响应）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0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核心功能③  教师录入成绩</a:t>
            </a:r>
            <a:endParaRPr sz="30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Core Function 3</a:t>
            </a:r>
            <a:endParaRPr sz="14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97280" cy="4572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11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6 / 14</a:t>
            </a:r>
            <a:endParaRPr sz="11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972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>
                <a:solidFill>
                  <a:srgbClr val="1A73E8"/>
                </a:solidFill>
                <a:latin typeface="微软雅黑" panose="020B0503020204020204" charset="-122"/>
                <a:ea typeface="微软雅黑" panose="020B0503020204020204" charset="-122"/>
              </a:rPr>
              <a:t>入口：TeacherController  ➜  PUT /api/teacher/score（单个） / /score/batch（批量）</a:t>
            </a:r>
            <a:endParaRPr sz="1400" b="1">
              <a:solidFill>
                <a:srgbClr val="1A73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520" y="2286000"/>
            <a:ext cx="54864" cy="73152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502920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🔎 选课查询</a:t>
            </a:r>
            <a:endParaRPr sz="16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2670048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按 学期 / 课程 / 学生姓名 多条件筛选</a:t>
            </a:r>
            <a:endParaRPr sz="12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31520" y="3154680"/>
            <a:ext cx="54864" cy="73152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154680"/>
            <a:ext cx="502920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📝 单个录入</a:t>
            </a:r>
            <a:endParaRPr sz="16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4400" y="3538728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PUT /api/teacher/score，修改 selection.score</a:t>
            </a:r>
            <a:endParaRPr sz="12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31520" y="4023360"/>
            <a:ext cx="54864" cy="73152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23360"/>
            <a:ext cx="502920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📋 批量录入</a:t>
            </a:r>
            <a:endParaRPr sz="16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4400" y="4407408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PUT /api/teacher/score/batch，循环调用单个录入</a:t>
            </a:r>
            <a:endParaRPr sz="12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31520" y="4892040"/>
            <a:ext cx="54864" cy="73152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92040"/>
            <a:ext cx="502920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🔒 数据约束</a:t>
            </a:r>
            <a:endParaRPr sz="16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4400" y="5276088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教师只能查看/录入 自己教授课程 的选课记录</a:t>
            </a:r>
            <a:endParaRPr sz="12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00800" y="2286000"/>
            <a:ext cx="5029200" cy="3657600"/>
          </a:xfrm>
          <a:prstGeom prst="round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2286000"/>
            <a:ext cx="73152" cy="36576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2423160"/>
            <a:ext cx="45720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700" b="1">
                <a:solidFill>
                  <a:srgbClr val="34A853"/>
                </a:solidFill>
                <a:latin typeface="微软雅黑" panose="020B0503020204020204" charset="-122"/>
                <a:ea typeface="微软雅黑" panose="020B0503020204020204" charset="-122"/>
              </a:rPr>
              <a:t>⚙️ 业务规则</a:t>
            </a:r>
            <a:endParaRPr sz="1700" b="1">
              <a:solidFill>
                <a:srgbClr val="34A85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629400" y="2926080"/>
            <a:ext cx="4572000" cy="2926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✓ 成绩录入后，学生可在「我的选课」查看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</a:p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✓ 已出成绩的课程 不能退课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   （退课时校验 score != null）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</a:p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✓ 教师身份隔离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   只能操作 teacher_id = 自己 的课程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</a:p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✓ 成绩更新后清除该学生的选课缓存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0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双端功能总览</a:t>
            </a:r>
            <a:endParaRPr sz="30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Dual-End Overview</a:t>
            </a:r>
            <a:endParaRPr sz="14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97280" cy="4572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11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7 / 14</a:t>
            </a:r>
            <a:endParaRPr sz="11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270248" y="1645920"/>
            <a:ext cx="3657600" cy="822960"/>
          </a:xfrm>
          <a:prstGeom prst="round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学生选课管理系统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99048" y="2468880"/>
            <a:ext cx="25400" cy="365760"/>
          </a:xfrm>
          <a:prstGeom prst="rect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71600" y="2834640"/>
            <a:ext cx="4572000" cy="731520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👤 用户端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45352" y="2834640"/>
            <a:ext cx="4572000" cy="731520"/>
          </a:xfrm>
          <a:prstGeom prst="round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🛠️ 管理员端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371600" y="4206240"/>
            <a:ext cx="2103120" cy="640080"/>
          </a:xfrm>
          <a:prstGeom prst="round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🎓 学生端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840480" y="4206240"/>
            <a:ext cx="2103120" cy="640080"/>
          </a:xfrm>
          <a:prstGeom prst="round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👨‍🏫 教师端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423160" y="3566160"/>
            <a:ext cx="25400" cy="640080"/>
          </a:xfrm>
          <a:prstGeom prst="rect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92040" y="3566160"/>
            <a:ext cx="25400" cy="640080"/>
          </a:xfrm>
          <a:prstGeom prst="rect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212080"/>
            <a:ext cx="941832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用户端细分为学生端和教师端，不同角色看到的功能完全不同</a:t>
            </a:r>
            <a:endParaRPr sz="14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4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管理员端拥有六大管理模块，权限通过 RBAC 模型统一分配</a:t>
            </a:r>
            <a:endParaRPr sz="14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0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用户端 · 学生端</a:t>
            </a:r>
            <a:endParaRPr sz="30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User End - Student</a:t>
            </a:r>
            <a:endParaRPr sz="14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97280" cy="4572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11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8 / 14</a:t>
            </a:r>
            <a:endParaRPr sz="11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698480" cy="594360"/>
          </a:xfrm>
          <a:prstGeom prst="round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🎓 学生端功能  （代码位置：StudentController + SelectionService）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5029200" cy="1737360"/>
          </a:xfrm>
          <a:prstGeom prst="round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377440"/>
            <a:ext cx="73152" cy="173736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45720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>
                <a:solidFill>
                  <a:srgbClr val="1A73E8"/>
                </a:solidFill>
                <a:latin typeface="微软雅黑" panose="020B0503020204020204" charset="-122"/>
                <a:ea typeface="微软雅黑" panose="020B0503020204020204" charset="-122"/>
              </a:rPr>
              <a:t>🔍 课程查询</a:t>
            </a:r>
            <a:endParaRPr sz="1800" b="1">
              <a:solidFill>
                <a:srgbClr val="1A73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3108960"/>
            <a:ext cx="45720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浏览可选课程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（已启用 status=1 且未满员）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17920" y="2377440"/>
            <a:ext cx="5029200" cy="1737360"/>
          </a:xfrm>
          <a:prstGeom prst="round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377440"/>
            <a:ext cx="73152" cy="173736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560320"/>
            <a:ext cx="45720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>
                <a:solidFill>
                  <a:srgbClr val="34A853"/>
                </a:solidFill>
                <a:latin typeface="微软雅黑" panose="020B0503020204020204" charset="-122"/>
                <a:ea typeface="微软雅黑" panose="020B0503020204020204" charset="-122"/>
              </a:rPr>
              <a:t>✅ 选课</a:t>
            </a:r>
            <a:endParaRPr sz="1800" b="1">
              <a:solidFill>
                <a:srgbClr val="34A85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92240" y="3108960"/>
            <a:ext cx="45720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6 步校验 + 事务保护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选课成功异步邮件通知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31520" y="4297680"/>
            <a:ext cx="5029200" cy="1737360"/>
          </a:xfrm>
          <a:prstGeom prst="round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297680"/>
            <a:ext cx="73152" cy="173736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480560"/>
            <a:ext cx="45720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>
                <a:solidFill>
                  <a:srgbClr val="FF6F00"/>
                </a:solidFill>
                <a:latin typeface="微软雅黑" panose="020B0503020204020204" charset="-122"/>
                <a:ea typeface="微软雅黑" panose="020B0503020204020204" charset="-122"/>
              </a:rPr>
              <a:t>❌ 退课</a:t>
            </a:r>
            <a:endParaRPr sz="1800" b="1">
              <a:solidFill>
                <a:srgbClr val="FF6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05840" y="5029200"/>
            <a:ext cx="45720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仅未出成绩的课程可退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删除记录 + 人数 -1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17920" y="4297680"/>
            <a:ext cx="5029200" cy="1737360"/>
          </a:xfrm>
          <a:prstGeom prst="round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4297680"/>
            <a:ext cx="73152" cy="173736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480560"/>
            <a:ext cx="45720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📊 选课统计</a:t>
            </a:r>
            <a:endParaRPr sz="18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92240" y="5029200"/>
            <a:ext cx="45720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总门数 / 总学分 / 已过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不及格数 / 平均分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0"/>
            <a:ext cx="10972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额外功能：个人信息修改（邮箱、手机号）   |   公告查看</a:t>
            </a:r>
            <a:endParaRPr sz="12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0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用户端 · 教师端</a:t>
            </a:r>
            <a:endParaRPr sz="30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User End - Teacher</a:t>
            </a:r>
            <a:endParaRPr sz="14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97280" cy="4572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11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9 / 14</a:t>
            </a:r>
            <a:endParaRPr sz="11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698480" cy="594360"/>
          </a:xfrm>
          <a:prstGeom prst="round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👨‍🏫 教师端功能  （代码位置：TeacherController + AdminController 权限隔离）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5029200" cy="1737360"/>
          </a:xfrm>
          <a:prstGeom prst="round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377440"/>
            <a:ext cx="73152" cy="1737360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45720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>
                <a:solidFill>
                  <a:srgbClr val="66BB6A"/>
                </a:solidFill>
                <a:latin typeface="微软雅黑" panose="020B0503020204020204" charset="-122"/>
                <a:ea typeface="微软雅黑" panose="020B0503020204020204" charset="-122"/>
              </a:rPr>
              <a:t>📚 课程管理</a:t>
            </a:r>
            <a:endParaRPr sz="1800" b="1">
              <a:solidFill>
                <a:srgbClr val="66BB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3108960"/>
            <a:ext cx="45720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发布 / 编辑 / 启用 / 停用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仅操作自己教授的课程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17920" y="2377440"/>
            <a:ext cx="5029200" cy="1737360"/>
          </a:xfrm>
          <a:prstGeom prst="round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377440"/>
            <a:ext cx="73152" cy="173736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560320"/>
            <a:ext cx="45720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>
                <a:solidFill>
                  <a:srgbClr val="FF6F00"/>
                </a:solidFill>
                <a:latin typeface="微软雅黑" panose="020B0503020204020204" charset="-122"/>
                <a:ea typeface="微软雅黑" panose="020B0503020204020204" charset="-122"/>
              </a:rPr>
              <a:t>📝 成绩录入</a:t>
            </a:r>
            <a:endParaRPr sz="1800" b="1">
              <a:solidFill>
                <a:srgbClr val="FF6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92240" y="3108960"/>
            <a:ext cx="45720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单个录入 + 批量录入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按条件查询选课记录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31520" y="4297680"/>
            <a:ext cx="5029200" cy="1737360"/>
          </a:xfrm>
          <a:prstGeom prst="round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297680"/>
            <a:ext cx="73152" cy="173736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480560"/>
            <a:ext cx="45720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>
                <a:solidFill>
                  <a:srgbClr val="1A73E8"/>
                </a:solidFill>
                <a:latin typeface="微软雅黑" panose="020B0503020204020204" charset="-122"/>
                <a:ea typeface="微软雅黑" panose="020B0503020204020204" charset="-122"/>
              </a:rPr>
              <a:t>🔎 选课查询</a:t>
            </a:r>
            <a:endParaRPr sz="1800" b="1">
              <a:solidFill>
                <a:srgbClr val="1A73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05840" y="5029200"/>
            <a:ext cx="45720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按 学期 / 课程 / 学生姓名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多条件筛选选课记录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17920" y="4297680"/>
            <a:ext cx="5029200" cy="1737360"/>
          </a:xfrm>
          <a:prstGeom prst="round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4297680"/>
            <a:ext cx="73152" cy="173736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480560"/>
            <a:ext cx="45720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📢 公告发布</a:t>
            </a:r>
            <a:endParaRPr sz="18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92240" y="5029200"/>
            <a:ext cx="45720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发布 / 编辑 / 删除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只能管理自己发布的公告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0"/>
            <a:ext cx="10972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权限核心：通过 @PreAuthorize + 数据层 teacher_id 隔离，实现教师只管自己的数据</a:t>
            </a:r>
            <a:endParaRPr sz="12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0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管理员端 · 六大管理模块（上）</a:t>
            </a:r>
            <a:endParaRPr sz="30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Admin End - Modules (1/2)</a:t>
            </a:r>
            <a:endParaRPr sz="14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97280" cy="4572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11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10 / 14</a:t>
            </a:r>
            <a:endParaRPr sz="11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698480" cy="594360"/>
          </a:xfrm>
          <a:prstGeom prst="round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🛠️ 六大管理模块  （代码位置：AdminController + UserService / CourseService）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3474720" cy="3657600"/>
          </a:xfrm>
          <a:prstGeom prst="round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377440"/>
            <a:ext cx="3474720" cy="640080"/>
          </a:xfrm>
          <a:prstGeom prst="rect">
            <a:avLst/>
          </a:prstGeom>
          <a:solidFill>
            <a:srgbClr val="F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310896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👨‍🏫 教师管理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3200400"/>
            <a:ext cx="2926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>
                <a:solidFill>
                  <a:srgbClr val="FF7043"/>
                </a:solidFill>
                <a:latin typeface="微软雅黑" panose="020B0503020204020204" charset="-122"/>
                <a:ea typeface="微软雅黑" panose="020B0503020204020204" charset="-122"/>
              </a:rPr>
              <a:t>/api/admin/teacher/*</a:t>
            </a:r>
            <a:endParaRPr sz="1200" b="1">
              <a:solidFill>
                <a:srgbClr val="FF704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5840" y="3749039"/>
            <a:ext cx="2926080" cy="21945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• 教师账号增删改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• 启用 / 禁用账号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• 分配教师角色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480559" y="2377440"/>
            <a:ext cx="3474720" cy="3657600"/>
          </a:xfrm>
          <a:prstGeom prst="round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59" y="2377440"/>
            <a:ext cx="3474720" cy="64008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39" y="2468880"/>
            <a:ext cx="310896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🎓 学生管理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754879" y="3200400"/>
            <a:ext cx="2926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>
                <a:solidFill>
                  <a:srgbClr val="42A5F5"/>
                </a:solidFill>
                <a:latin typeface="微软雅黑" panose="020B0503020204020204" charset="-122"/>
                <a:ea typeface="微软雅黑" panose="020B0503020204020204" charset="-122"/>
              </a:rPr>
              <a:t>/api/admin/student/*</a:t>
            </a:r>
            <a:endParaRPr sz="1200" b="1">
              <a:solidFill>
                <a:srgbClr val="42A5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754879" y="3749039"/>
            <a:ext cx="2926080" cy="21945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• 按姓名/学号查询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• 启用 / 禁用账号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• 重置密码 / 修改信息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229600" y="2377440"/>
            <a:ext cx="3474720" cy="3657600"/>
          </a:xfrm>
          <a:prstGeom prst="round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2377440"/>
            <a:ext cx="3474720" cy="640080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2468880"/>
            <a:ext cx="310896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📚 课程管理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503920" y="3200400"/>
            <a:ext cx="2926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>
                <a:solidFill>
                  <a:srgbClr val="66BB6A"/>
                </a:solidFill>
                <a:latin typeface="微软雅黑" panose="020B0503020204020204" charset="-122"/>
                <a:ea typeface="微软雅黑" panose="020B0503020204020204" charset="-122"/>
              </a:rPr>
              <a:t>/api/admin/course/*</a:t>
            </a:r>
            <a:endParaRPr sz="1200" b="1">
              <a:solidFill>
                <a:srgbClr val="66BB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503920" y="3749039"/>
            <a:ext cx="2926080" cy="21945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• 课程增删改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• 启用 / 停用课程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• 管理所有教师的课程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0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管理员端 · 六大管理模块（下）</a:t>
            </a:r>
            <a:endParaRPr sz="30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Admin End - Modules (2/2)</a:t>
            </a:r>
            <a:endParaRPr sz="14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97280" cy="4572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11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11 / 14</a:t>
            </a:r>
            <a:endParaRPr sz="11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698480" cy="594360"/>
          </a:xfrm>
          <a:prstGeom prst="round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🛠️ 六大管理模块  （代码位置：AdminController + RoleService / MenuService）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3474720" cy="3657600"/>
          </a:xfrm>
          <a:prstGeom prst="round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377440"/>
            <a:ext cx="3474720" cy="640080"/>
          </a:xfrm>
          <a:prstGeom prst="rect">
            <a:avLst/>
          </a:prstGeom>
          <a:solidFill>
            <a:srgbClr val="FFA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310896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📢 公告管理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3200400"/>
            <a:ext cx="2926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>
                <a:solidFill>
                  <a:srgbClr val="FFA726"/>
                </a:solidFill>
                <a:latin typeface="微软雅黑" panose="020B0503020204020204" charset="-122"/>
                <a:ea typeface="微软雅黑" panose="020B0503020204020204" charset="-122"/>
              </a:rPr>
              <a:t>/api/admin/notice/*</a:t>
            </a:r>
            <a:endParaRPr sz="1200" b="1">
              <a:solidFill>
                <a:srgbClr val="FFA7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5840" y="3749039"/>
            <a:ext cx="2926080" cy="21945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• 发布 / 编辑 / 删除公告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• 自动落款（教务处/教师名）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• 学生端可见公告列表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480559" y="2377440"/>
            <a:ext cx="3474720" cy="3657600"/>
          </a:xfrm>
          <a:prstGeom prst="round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59" y="2377440"/>
            <a:ext cx="3474720" cy="640080"/>
          </a:xfrm>
          <a:prstGeom prst="rect">
            <a:avLst/>
          </a:prstGeom>
          <a:solidFill>
            <a:srgbClr val="AB4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39" y="2468880"/>
            <a:ext cx="310896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🔐 角色权限管理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754879" y="3200400"/>
            <a:ext cx="2926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>
                <a:solidFill>
                  <a:srgbClr val="AB47BC"/>
                </a:solidFill>
                <a:latin typeface="微软雅黑" panose="020B0503020204020204" charset="-122"/>
                <a:ea typeface="微软雅黑" panose="020B0503020204020204" charset="-122"/>
              </a:rPr>
              <a:t>/api/admin/role/*</a:t>
            </a:r>
            <a:endParaRPr sz="1200" b="1">
              <a:solidFill>
                <a:srgbClr val="AB47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754879" y="3749039"/>
            <a:ext cx="2926080" cy="21945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• 角色增删改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• 为角色分配菜单权限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• RBAC 模型核心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229600" y="2377440"/>
            <a:ext cx="3474720" cy="3657600"/>
          </a:xfrm>
          <a:prstGeom prst="round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2377440"/>
            <a:ext cx="3474720" cy="640080"/>
          </a:xfrm>
          <a:prstGeom prst="rect">
            <a:avLst/>
          </a:prstGeom>
          <a:solidFill>
            <a:srgbClr val="26C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2468880"/>
            <a:ext cx="310896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📋 菜单管理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503920" y="3200400"/>
            <a:ext cx="2926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>
                <a:solidFill>
                  <a:srgbClr val="26C6DA"/>
                </a:solidFill>
                <a:latin typeface="微软雅黑" panose="020B0503020204020204" charset="-122"/>
                <a:ea typeface="微软雅黑" panose="020B0503020204020204" charset="-122"/>
              </a:rPr>
              <a:t>/api/admin/menu/*</a:t>
            </a:r>
            <a:endParaRPr sz="1200" b="1">
              <a:solidFill>
                <a:srgbClr val="26C6D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503920" y="3749039"/>
            <a:ext cx="2926080" cy="21945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• 菜单树增删改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• 启用 / 禁用菜单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• 权限编码管理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31520" y="6217920"/>
            <a:ext cx="10698480" cy="457200"/>
          </a:xfrm>
          <a:prstGeom prst="round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RBAC 权限模型：用户 → 角色 → 菜单（权限），通过 role_menu 表实现细粒度控制</a:t>
            </a:r>
            <a:endParaRPr sz="13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0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关键技术实现</a:t>
            </a:r>
            <a:endParaRPr sz="30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Key Technical Implementations</a:t>
            </a:r>
            <a:endParaRPr sz="14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97280" cy="4572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11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12 / 14</a:t>
            </a:r>
            <a:endParaRPr sz="11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3474720" cy="914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29260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>
                <a:solidFill>
                  <a:srgbClr val="1A73E8"/>
                </a:solidFill>
                <a:latin typeface="微软雅黑" panose="020B0503020204020204" charset="-122"/>
                <a:ea typeface="微软雅黑" panose="020B0503020204020204" charset="-122"/>
              </a:rPr>
              <a:t>JWT 认证</a:t>
            </a:r>
            <a:endParaRPr sz="1800" b="1">
              <a:solidFill>
                <a:srgbClr val="1A73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2514600"/>
            <a:ext cx="29260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无状态 Token，过滤器解析</a:t>
            </a:r>
            <a:endParaRPr sz="12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3017520"/>
            <a:ext cx="2926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📁 JwtAuthenticationFilter / JwtUtil</a:t>
            </a:r>
            <a:endParaRPr sz="11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480559" y="173736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1737360"/>
            <a:ext cx="3474720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79" y="1965960"/>
            <a:ext cx="29260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>
                <a:solidFill>
                  <a:srgbClr val="34A853"/>
                </a:solidFill>
                <a:latin typeface="微软雅黑" panose="020B0503020204020204" charset="-122"/>
                <a:ea typeface="微软雅黑" panose="020B0503020204020204" charset="-122"/>
              </a:rPr>
              <a:t>Spring Security</a:t>
            </a:r>
            <a:endParaRPr sz="1800" b="1">
              <a:solidFill>
                <a:srgbClr val="34A85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54879" y="2514600"/>
            <a:ext cx="29260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RBAC + 方法级权限</a:t>
            </a:r>
            <a:endParaRPr sz="12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754879" y="3017520"/>
            <a:ext cx="2926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📁 SecurityConfig + @PreAuthorize</a:t>
            </a:r>
            <a:endParaRPr sz="11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229600" y="173736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737360"/>
            <a:ext cx="3474720" cy="9144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1965960"/>
            <a:ext cx="29260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>
                <a:solidFill>
                  <a:srgbClr val="FF6F00"/>
                </a:solidFill>
                <a:latin typeface="微软雅黑" panose="020B0503020204020204" charset="-122"/>
                <a:ea typeface="微软雅黑" panose="020B0503020204020204" charset="-122"/>
              </a:rPr>
              <a:t>Redis 缓存</a:t>
            </a:r>
            <a:endParaRPr sz="1800" b="1">
              <a:solidFill>
                <a:srgbClr val="FF6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503920" y="2514600"/>
            <a:ext cx="29260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@Cacheable / @CacheEvict</a:t>
            </a:r>
            <a:endParaRPr sz="12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503920" y="3017520"/>
            <a:ext cx="2926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📁 CourseService / RedisConfig</a:t>
            </a:r>
            <a:endParaRPr sz="11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31520" y="393192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931920"/>
            <a:ext cx="3474720" cy="9144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160520"/>
            <a:ext cx="29260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RabbitMQ</a:t>
            </a:r>
            <a:endParaRPr sz="18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05840" y="4709160"/>
            <a:ext cx="29260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异步邮件通知</a:t>
            </a:r>
            <a:endParaRPr sz="12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05840" y="5212080"/>
            <a:ext cx="2926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📁 MailProducer / MailConsumer</a:t>
            </a:r>
            <a:endParaRPr sz="11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480559" y="393192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80559" y="3931920"/>
            <a:ext cx="3474720" cy="91440"/>
          </a:xfrm>
          <a:prstGeom prst="rect">
            <a:avLst/>
          </a:prstGeom>
          <a:solidFill>
            <a:srgbClr val="AB4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79" y="4160520"/>
            <a:ext cx="29260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>
                <a:solidFill>
                  <a:srgbClr val="AB47BC"/>
                </a:solidFill>
                <a:latin typeface="微软雅黑" panose="020B0503020204020204" charset="-122"/>
                <a:ea typeface="微软雅黑" panose="020B0503020204020204" charset="-122"/>
              </a:rPr>
              <a:t>事务管理</a:t>
            </a:r>
            <a:endParaRPr sz="1800" b="1">
              <a:solidFill>
                <a:srgbClr val="AB47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754879" y="4709160"/>
            <a:ext cx="29260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@Transactional 保证原子性</a:t>
            </a:r>
            <a:endParaRPr sz="12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754879" y="5212080"/>
            <a:ext cx="2926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📁 SelectionService</a:t>
            </a:r>
            <a:endParaRPr sz="11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229600" y="393192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600" y="3931920"/>
            <a:ext cx="3474720" cy="9144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20" y="4160520"/>
            <a:ext cx="29260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>
                <a:solidFill>
                  <a:srgbClr val="009688"/>
                </a:solidFill>
                <a:latin typeface="微软雅黑" panose="020B0503020204020204" charset="-122"/>
                <a:ea typeface="微软雅黑" panose="020B0503020204020204" charset="-122"/>
              </a:rPr>
              <a:t>BCrypt 加密</a:t>
            </a:r>
            <a:endParaRPr sz="1800" b="1">
              <a:solidFill>
                <a:srgbClr val="0096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503920" y="4709160"/>
            <a:ext cx="29260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密码不可逆加密</a:t>
            </a:r>
            <a:endParaRPr sz="12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503920" y="5212080"/>
            <a:ext cx="2926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📁 SecurityConfig.passwordEncoder()</a:t>
            </a:r>
            <a:endParaRPr sz="11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0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选课流程时序图</a:t>
            </a:r>
            <a:endParaRPr sz="30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Course Selection Sequence</a:t>
            </a:r>
            <a:endParaRPr sz="14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97280" cy="4572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11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13 / 14</a:t>
            </a:r>
            <a:endParaRPr sz="11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828800" cy="1463040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前端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Vue.js 发送选课请求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2286000" y="2606040"/>
            <a:ext cx="548640" cy="274320"/>
          </a:xfrm>
          <a:prstGeom prst="rightArrow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68880" y="2011680"/>
            <a:ext cx="1828800" cy="1463040"/>
          </a:xfrm>
          <a:prstGeom prst="round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Controller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StudentController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权限校验+参数接收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4297680" y="2606040"/>
            <a:ext cx="548640" cy="274320"/>
          </a:xfrm>
          <a:prstGeom prst="rightArrow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0560" y="2011680"/>
            <a:ext cx="1828800" cy="1463040"/>
          </a:xfrm>
          <a:prstGeom prst="round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Service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SelectionService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6步校验+事务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6309360" y="2606040"/>
            <a:ext cx="548640" cy="274320"/>
          </a:xfrm>
          <a:prstGeom prst="rightArrow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0" y="2011680"/>
            <a:ext cx="1828800" cy="1463040"/>
          </a:xfrm>
          <a:prstGeom prst="round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Mapper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MyBatis-Plus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操作 MySQL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8321040" y="2606040"/>
            <a:ext cx="548640" cy="274320"/>
          </a:xfrm>
          <a:prstGeom prst="rightArrow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03920" y="2011680"/>
            <a:ext cx="1828800" cy="1463040"/>
          </a:xfrm>
          <a:prstGeom prst="roundRect">
            <a:avLst/>
          </a:prstGeom>
          <a:solidFill>
            <a:srgbClr val="AB4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缓存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Redis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清除相关缓存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10332720" y="2606040"/>
            <a:ext cx="548640" cy="274320"/>
          </a:xfrm>
          <a:prstGeom prst="rightArrow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515600" y="2011680"/>
            <a:ext cx="1828800" cy="1463040"/>
          </a:xfrm>
          <a:prstGeom prst="round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消息队列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RabbitMQ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异步邮件通知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31520" y="4023360"/>
            <a:ext cx="10698480" cy="2377440"/>
          </a:xfrm>
          <a:prstGeom prst="round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160520"/>
            <a:ext cx="100584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📋 完整调用链路</a:t>
            </a:r>
            <a:endParaRPr sz="16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14400" y="4663440"/>
            <a:ext cx="10332720" cy="1645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①  前端 POST /api/student/select?courseId=123  （携带 JWT Token）</a:t>
            </a:r>
            <a:endParaRPr sz="12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</a:p>
          <a:p>
            <a:pPr algn="l"/>
            <a:r>
              <a:rPr sz="12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②  JwtAuthenticationFilter 解析 Token  ➜  SecurityContext 设置认证信息</a:t>
            </a:r>
            <a:endParaRPr sz="12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</a:p>
          <a:p>
            <a:pPr algn="l"/>
            <a:r>
              <a:rPr sz="12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③  StudentController @PreAuthorize 校验 STUDENT 角色  ➜  @AuthenticationPrincipal 获取学生 ID</a:t>
            </a:r>
            <a:endParaRPr sz="12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</a:p>
          <a:p>
            <a:pPr algn="l"/>
            <a:r>
              <a:rPr sz="12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④  SelectionService.selectCourse()  @Transactional 事务内执行 6 步校验</a:t>
            </a:r>
            <a:endParaRPr sz="12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</a:p>
          <a:p>
            <a:pPr algn="l"/>
            <a:r>
              <a:rPr sz="12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⑤  写入 selection 表 + 更新 course.selected  ➜  清除 mySelections 缓存  ➜  RabbitMQ 发邮件</a:t>
            </a:r>
            <a:endParaRPr sz="12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743200" y="2743200"/>
            <a:ext cx="6400800" cy="6400800"/>
          </a:xfrm>
          <a:prstGeom prst="ellipse">
            <a:avLst/>
          </a:prstGeom>
          <a:solidFill>
            <a:srgbClr val="165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项目总结</a:t>
            </a:r>
            <a:endParaRPr sz="4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14400" y="1508760"/>
            <a:ext cx="1371600" cy="54864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2011680"/>
            <a:ext cx="502920" cy="50292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✓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45920" y="1965960"/>
            <a:ext cx="36576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✅ 完整选课闭环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0" y="2011680"/>
            <a:ext cx="6400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0">
                <a:solidFill>
                  <a:srgbClr val="BBDEFB"/>
                </a:solidFill>
                <a:latin typeface="微软雅黑" panose="020B0503020204020204" charset="-122"/>
                <a:ea typeface="微软雅黑" panose="020B0503020204020204" charset="-122"/>
              </a:rPr>
              <a:t>发布课程 ➜ 学生选课 ➜ 录入成绩</a:t>
            </a:r>
            <a:endParaRPr sz="1400" b="0">
              <a:solidFill>
                <a:srgbClr val="BBDEF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914400" y="2788920"/>
            <a:ext cx="502920" cy="50292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✓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45920" y="2743200"/>
            <a:ext cx="36576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✅ 三端权限隔离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0" y="2788920"/>
            <a:ext cx="6400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0">
                <a:solidFill>
                  <a:srgbClr val="BBDEFB"/>
                </a:solidFill>
                <a:latin typeface="微软雅黑" panose="020B0503020204020204" charset="-122"/>
                <a:ea typeface="微软雅黑" panose="020B0503020204020204" charset="-122"/>
              </a:rPr>
              <a:t>学生端 / 教师端 / 管理员端，数据互不干扰</a:t>
            </a:r>
            <a:endParaRPr sz="1400" b="0">
              <a:solidFill>
                <a:srgbClr val="BBDEF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914400" y="3566160"/>
            <a:ext cx="502920" cy="50292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✓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45920" y="3520440"/>
            <a:ext cx="36576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✅ 六大管理模块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0" y="3566160"/>
            <a:ext cx="6400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0">
                <a:solidFill>
                  <a:srgbClr val="BBDEFB"/>
                </a:solidFill>
                <a:latin typeface="微软雅黑" panose="020B0503020204020204" charset="-122"/>
                <a:ea typeface="微软雅黑" panose="020B0503020204020204" charset="-122"/>
              </a:rPr>
              <a:t>教师 / 学生 / 课程 / 公告 / 角色 / 菜单</a:t>
            </a:r>
            <a:endParaRPr sz="1400" b="0">
              <a:solidFill>
                <a:srgbClr val="BBDEF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914400" y="4343400"/>
            <a:ext cx="502920" cy="50292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✓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45920" y="4297680"/>
            <a:ext cx="36576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✅ 关键技术落地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0" y="4343400"/>
            <a:ext cx="6400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0">
                <a:solidFill>
                  <a:srgbClr val="BBDEFB"/>
                </a:solidFill>
                <a:latin typeface="微软雅黑" panose="020B0503020204020204" charset="-122"/>
                <a:ea typeface="微软雅黑" panose="020B0503020204020204" charset="-122"/>
              </a:rPr>
              <a:t>JWT + Redis + RabbitMQ + 事务 + BCrypt</a:t>
            </a:r>
            <a:endParaRPr sz="1400" b="0">
              <a:solidFill>
                <a:srgbClr val="BBDEF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914400" y="5120640"/>
            <a:ext cx="502920" cy="50292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✓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645920" y="5074920"/>
            <a:ext cx="36576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✅ 三层架构清晰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0" y="5120640"/>
            <a:ext cx="6400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0">
                <a:solidFill>
                  <a:srgbClr val="BBDEFB"/>
                </a:solidFill>
                <a:latin typeface="微软雅黑" panose="020B0503020204020204" charset="-122"/>
                <a:ea typeface="微软雅黑" panose="020B0503020204020204" charset="-122"/>
              </a:rPr>
              <a:t>Controller ➜ Service ➜ Mapper，职责分明</a:t>
            </a:r>
            <a:endParaRPr sz="1400" b="0">
              <a:solidFill>
                <a:srgbClr val="BBDEF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6309360"/>
            <a:ext cx="12191695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感谢各位老师的聆听！  欢迎提问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3745</Words>
  <Application>WPS 演示</Application>
  <PresentationFormat>On-screen Show (4:3)</PresentationFormat>
  <Paragraphs>471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Q</cp:lastModifiedBy>
  <cp:revision>2</cp:revision>
  <dcterms:created xsi:type="dcterms:W3CDTF">2013-01-27T09:14:00Z</dcterms:created>
  <dcterms:modified xsi:type="dcterms:W3CDTF">2026-07-01T10:30:00Z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654ED64FFC5A48439CF6D7EEB05B0DD8_12</vt:lpwstr>
  </property>
</Properties>
</file>